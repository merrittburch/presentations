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Lst>
  <p:sldSz cx="34747200" cy="42062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p:scale>
          <a:sx n="20" d="100"/>
          <a:sy n="20" d="100"/>
        </p:scale>
        <p:origin x="184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06040" y="6883826"/>
            <a:ext cx="29535120" cy="14643947"/>
          </a:xfrm>
        </p:spPr>
        <p:txBody>
          <a:bodyPr anchor="b"/>
          <a:lstStyle>
            <a:lvl1pPr algn="ctr">
              <a:defRPr sz="22800"/>
            </a:lvl1pPr>
          </a:lstStyle>
          <a:p>
            <a:r>
              <a:rPr lang="en-US"/>
              <a:t>Click to edit Master title style</a:t>
            </a:r>
            <a:endParaRPr lang="en-US" dirty="0"/>
          </a:p>
        </p:txBody>
      </p:sp>
      <p:sp>
        <p:nvSpPr>
          <p:cNvPr id="3" name="Subtitle 2"/>
          <p:cNvSpPr>
            <a:spLocks noGrp="1"/>
          </p:cNvSpPr>
          <p:nvPr>
            <p:ph type="subTitle" idx="1"/>
          </p:nvPr>
        </p:nvSpPr>
        <p:spPr>
          <a:xfrm>
            <a:off x="4343400" y="22092500"/>
            <a:ext cx="26060400" cy="10155340"/>
          </a:xfrm>
        </p:spPr>
        <p:txBody>
          <a:bodyPr/>
          <a:lstStyle>
            <a:lvl1pPr marL="0" indent="0" algn="ctr">
              <a:buNone/>
              <a:defRPr sz="9120"/>
            </a:lvl1pPr>
            <a:lvl2pPr marL="1737360" indent="0" algn="ctr">
              <a:buNone/>
              <a:defRPr sz="7600"/>
            </a:lvl2pPr>
            <a:lvl3pPr marL="3474720" indent="0" algn="ctr">
              <a:buNone/>
              <a:defRPr sz="6840"/>
            </a:lvl3pPr>
            <a:lvl4pPr marL="5212080" indent="0" algn="ctr">
              <a:buNone/>
              <a:defRPr sz="6080"/>
            </a:lvl4pPr>
            <a:lvl5pPr marL="6949440" indent="0" algn="ctr">
              <a:buNone/>
              <a:defRPr sz="6080"/>
            </a:lvl5pPr>
            <a:lvl6pPr marL="8686800" indent="0" algn="ctr">
              <a:buNone/>
              <a:defRPr sz="6080"/>
            </a:lvl6pPr>
            <a:lvl7pPr marL="10424160" indent="0" algn="ctr">
              <a:buNone/>
              <a:defRPr sz="6080"/>
            </a:lvl7pPr>
            <a:lvl8pPr marL="12161520" indent="0" algn="ctr">
              <a:buNone/>
              <a:defRPr sz="6080"/>
            </a:lvl8pPr>
            <a:lvl9pPr marL="13898880" indent="0" algn="ctr">
              <a:buNone/>
              <a:defRPr sz="60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6576BE-8418-408D-B64B-3C259612A207}" type="datetimeFigureOut">
              <a:rPr lang="en-US" smtClean="0"/>
              <a:t>10/31/2016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3154476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6576BE-8418-408D-B64B-3C259612A207}" type="datetimeFigureOut">
              <a:rPr lang="en-US" smtClean="0"/>
              <a:t>10/31/2016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4110114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70774" y="10486402"/>
            <a:ext cx="29969460" cy="17496787"/>
          </a:xfrm>
        </p:spPr>
        <p:txBody>
          <a:bodyPr anchor="b"/>
          <a:lstStyle>
            <a:lvl1pPr>
              <a:defRPr sz="22800"/>
            </a:lvl1pPr>
          </a:lstStyle>
          <a:p>
            <a:r>
              <a:rPr lang="en-US"/>
              <a:t>Click to edit Master title style</a:t>
            </a:r>
            <a:endParaRPr lang="en-US" dirty="0"/>
          </a:p>
        </p:txBody>
      </p:sp>
      <p:sp>
        <p:nvSpPr>
          <p:cNvPr id="3" name="Text Placeholder 2"/>
          <p:cNvSpPr>
            <a:spLocks noGrp="1"/>
          </p:cNvSpPr>
          <p:nvPr>
            <p:ph type="body" idx="1"/>
          </p:nvPr>
        </p:nvSpPr>
        <p:spPr>
          <a:xfrm>
            <a:off x="2370774" y="28148716"/>
            <a:ext cx="29969460" cy="9201147"/>
          </a:xfrm>
        </p:spPr>
        <p:txBody>
          <a:bodyPr/>
          <a:lstStyle>
            <a:lvl1pPr marL="0" indent="0">
              <a:buNone/>
              <a:defRPr sz="9120">
                <a:solidFill>
                  <a:schemeClr val="tx1"/>
                </a:solidFill>
              </a:defRPr>
            </a:lvl1pPr>
            <a:lvl2pPr marL="1737360" indent="0">
              <a:buNone/>
              <a:defRPr sz="7600">
                <a:solidFill>
                  <a:schemeClr val="tx1">
                    <a:tint val="75000"/>
                  </a:schemeClr>
                </a:solidFill>
              </a:defRPr>
            </a:lvl2pPr>
            <a:lvl3pPr marL="3474720" indent="0">
              <a:buNone/>
              <a:defRPr sz="6840">
                <a:solidFill>
                  <a:schemeClr val="tx1">
                    <a:tint val="75000"/>
                  </a:schemeClr>
                </a:solidFill>
              </a:defRPr>
            </a:lvl3pPr>
            <a:lvl4pPr marL="5212080" indent="0">
              <a:buNone/>
              <a:defRPr sz="6080">
                <a:solidFill>
                  <a:schemeClr val="tx1">
                    <a:tint val="75000"/>
                  </a:schemeClr>
                </a:solidFill>
              </a:defRPr>
            </a:lvl4pPr>
            <a:lvl5pPr marL="6949440" indent="0">
              <a:buNone/>
              <a:defRPr sz="6080">
                <a:solidFill>
                  <a:schemeClr val="tx1">
                    <a:tint val="75000"/>
                  </a:schemeClr>
                </a:solidFill>
              </a:defRPr>
            </a:lvl5pPr>
            <a:lvl6pPr marL="8686800" indent="0">
              <a:buNone/>
              <a:defRPr sz="6080">
                <a:solidFill>
                  <a:schemeClr val="tx1">
                    <a:tint val="75000"/>
                  </a:schemeClr>
                </a:solidFill>
              </a:defRPr>
            </a:lvl6pPr>
            <a:lvl7pPr marL="10424160" indent="0">
              <a:buNone/>
              <a:defRPr sz="6080">
                <a:solidFill>
                  <a:schemeClr val="tx1">
                    <a:tint val="75000"/>
                  </a:schemeClr>
                </a:solidFill>
              </a:defRPr>
            </a:lvl7pPr>
            <a:lvl8pPr marL="12161520" indent="0">
              <a:buNone/>
              <a:defRPr sz="6080">
                <a:solidFill>
                  <a:schemeClr val="tx1">
                    <a:tint val="75000"/>
                  </a:schemeClr>
                </a:solidFill>
              </a:defRPr>
            </a:lvl8pPr>
            <a:lvl9pPr marL="13898880" indent="0">
              <a:buNone/>
              <a:defRPr sz="608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16576BE-8418-408D-B64B-3C259612A207}" type="datetimeFigureOut">
              <a:rPr lang="en-US" smtClean="0"/>
              <a:t>10/31/2016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1280593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388870" y="11197167"/>
            <a:ext cx="14767560" cy="266882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7590770" y="11197167"/>
            <a:ext cx="14767560" cy="266882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6576BE-8418-408D-B64B-3C259612A207}" type="datetimeFigureOut">
              <a:rPr lang="en-US" smtClean="0"/>
              <a:t>10/31/2016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2419036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393396" y="2239442"/>
            <a:ext cx="29969460" cy="8130120"/>
          </a:xfrm>
        </p:spPr>
        <p:txBody>
          <a:bodyPr/>
          <a:lstStyle/>
          <a:p>
            <a:r>
              <a:rPr lang="en-US"/>
              <a:t>Click to edit Master title style</a:t>
            </a:r>
            <a:endParaRPr lang="en-US" dirty="0"/>
          </a:p>
        </p:txBody>
      </p:sp>
      <p:sp>
        <p:nvSpPr>
          <p:cNvPr id="3" name="Text Placeholder 2"/>
          <p:cNvSpPr>
            <a:spLocks noGrp="1"/>
          </p:cNvSpPr>
          <p:nvPr>
            <p:ph type="body" idx="1"/>
          </p:nvPr>
        </p:nvSpPr>
        <p:spPr>
          <a:xfrm>
            <a:off x="2393400" y="10311133"/>
            <a:ext cx="14699692" cy="5053327"/>
          </a:xfrm>
        </p:spPr>
        <p:txBody>
          <a:bodyPr anchor="b"/>
          <a:lstStyle>
            <a:lvl1pPr marL="0" indent="0">
              <a:buNone/>
              <a:defRPr sz="9120" b="1"/>
            </a:lvl1pPr>
            <a:lvl2pPr marL="1737360" indent="0">
              <a:buNone/>
              <a:defRPr sz="7600" b="1"/>
            </a:lvl2pPr>
            <a:lvl3pPr marL="3474720" indent="0">
              <a:buNone/>
              <a:defRPr sz="6840" b="1"/>
            </a:lvl3pPr>
            <a:lvl4pPr marL="5212080" indent="0">
              <a:buNone/>
              <a:defRPr sz="6080" b="1"/>
            </a:lvl4pPr>
            <a:lvl5pPr marL="6949440" indent="0">
              <a:buNone/>
              <a:defRPr sz="6080" b="1"/>
            </a:lvl5pPr>
            <a:lvl6pPr marL="8686800" indent="0">
              <a:buNone/>
              <a:defRPr sz="6080" b="1"/>
            </a:lvl6pPr>
            <a:lvl7pPr marL="10424160" indent="0">
              <a:buNone/>
              <a:defRPr sz="6080" b="1"/>
            </a:lvl7pPr>
            <a:lvl8pPr marL="12161520" indent="0">
              <a:buNone/>
              <a:defRPr sz="6080" b="1"/>
            </a:lvl8pPr>
            <a:lvl9pPr marL="13898880" indent="0">
              <a:buNone/>
              <a:defRPr sz="6080" b="1"/>
            </a:lvl9pPr>
          </a:lstStyle>
          <a:p>
            <a:pPr lvl="0"/>
            <a:r>
              <a:rPr lang="en-US"/>
              <a:t>Edit Master text styles</a:t>
            </a:r>
          </a:p>
        </p:txBody>
      </p:sp>
      <p:sp>
        <p:nvSpPr>
          <p:cNvPr id="4" name="Content Placeholder 3"/>
          <p:cNvSpPr>
            <a:spLocks noGrp="1"/>
          </p:cNvSpPr>
          <p:nvPr>
            <p:ph sz="half" idx="2"/>
          </p:nvPr>
        </p:nvSpPr>
        <p:spPr>
          <a:xfrm>
            <a:off x="2393400" y="15364460"/>
            <a:ext cx="14699692" cy="225988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7590772" y="10311133"/>
            <a:ext cx="14772086" cy="5053327"/>
          </a:xfrm>
        </p:spPr>
        <p:txBody>
          <a:bodyPr anchor="b"/>
          <a:lstStyle>
            <a:lvl1pPr marL="0" indent="0">
              <a:buNone/>
              <a:defRPr sz="9120" b="1"/>
            </a:lvl1pPr>
            <a:lvl2pPr marL="1737360" indent="0">
              <a:buNone/>
              <a:defRPr sz="7600" b="1"/>
            </a:lvl2pPr>
            <a:lvl3pPr marL="3474720" indent="0">
              <a:buNone/>
              <a:defRPr sz="6840" b="1"/>
            </a:lvl3pPr>
            <a:lvl4pPr marL="5212080" indent="0">
              <a:buNone/>
              <a:defRPr sz="6080" b="1"/>
            </a:lvl4pPr>
            <a:lvl5pPr marL="6949440" indent="0">
              <a:buNone/>
              <a:defRPr sz="6080" b="1"/>
            </a:lvl5pPr>
            <a:lvl6pPr marL="8686800" indent="0">
              <a:buNone/>
              <a:defRPr sz="6080" b="1"/>
            </a:lvl6pPr>
            <a:lvl7pPr marL="10424160" indent="0">
              <a:buNone/>
              <a:defRPr sz="6080" b="1"/>
            </a:lvl7pPr>
            <a:lvl8pPr marL="12161520" indent="0">
              <a:buNone/>
              <a:defRPr sz="6080" b="1"/>
            </a:lvl8pPr>
            <a:lvl9pPr marL="13898880" indent="0">
              <a:buNone/>
              <a:defRPr sz="6080" b="1"/>
            </a:lvl9pPr>
          </a:lstStyle>
          <a:p>
            <a:pPr lvl="0"/>
            <a:r>
              <a:rPr lang="en-US"/>
              <a:t>Edit Master text styles</a:t>
            </a:r>
          </a:p>
        </p:txBody>
      </p:sp>
      <p:sp>
        <p:nvSpPr>
          <p:cNvPr id="6" name="Content Placeholder 5"/>
          <p:cNvSpPr>
            <a:spLocks noGrp="1"/>
          </p:cNvSpPr>
          <p:nvPr>
            <p:ph sz="quarter" idx="4"/>
          </p:nvPr>
        </p:nvSpPr>
        <p:spPr>
          <a:xfrm>
            <a:off x="17590772" y="15364460"/>
            <a:ext cx="14772086" cy="2259880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6576BE-8418-408D-B64B-3C259612A207}" type="datetimeFigureOut">
              <a:rPr lang="en-US" smtClean="0"/>
              <a:t>10/31/2016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2073586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6576BE-8418-408D-B64B-3C259612A207}" type="datetimeFigureOut">
              <a:rPr lang="en-US" smtClean="0"/>
              <a:t>10/31/2016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33018466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576BE-8418-408D-B64B-3C259612A207}" type="datetimeFigureOut">
              <a:rPr lang="en-US" smtClean="0"/>
              <a:t>10/31/2016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22304659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3396" y="2804160"/>
            <a:ext cx="11206876" cy="9814560"/>
          </a:xfrm>
        </p:spPr>
        <p:txBody>
          <a:bodyPr anchor="b"/>
          <a:lstStyle>
            <a:lvl1pPr>
              <a:defRPr sz="12160"/>
            </a:lvl1pPr>
          </a:lstStyle>
          <a:p>
            <a:r>
              <a:rPr lang="en-US"/>
              <a:t>Click to edit Master title style</a:t>
            </a:r>
            <a:endParaRPr lang="en-US" dirty="0"/>
          </a:p>
        </p:txBody>
      </p:sp>
      <p:sp>
        <p:nvSpPr>
          <p:cNvPr id="3" name="Content Placeholder 2"/>
          <p:cNvSpPr>
            <a:spLocks noGrp="1"/>
          </p:cNvSpPr>
          <p:nvPr>
            <p:ph idx="1"/>
          </p:nvPr>
        </p:nvSpPr>
        <p:spPr>
          <a:xfrm>
            <a:off x="14772086" y="6056216"/>
            <a:ext cx="17590770" cy="29891567"/>
          </a:xfrm>
        </p:spPr>
        <p:txBody>
          <a:bodyPr/>
          <a:lstStyle>
            <a:lvl1pPr>
              <a:defRPr sz="12160"/>
            </a:lvl1pPr>
            <a:lvl2pPr>
              <a:defRPr sz="10640"/>
            </a:lvl2pPr>
            <a:lvl3pPr>
              <a:defRPr sz="9120"/>
            </a:lvl3pPr>
            <a:lvl4pPr>
              <a:defRPr sz="7600"/>
            </a:lvl4pPr>
            <a:lvl5pPr>
              <a:defRPr sz="7600"/>
            </a:lvl5pPr>
            <a:lvl6pPr>
              <a:defRPr sz="7600"/>
            </a:lvl6pPr>
            <a:lvl7pPr>
              <a:defRPr sz="7600"/>
            </a:lvl7pPr>
            <a:lvl8pPr>
              <a:defRPr sz="7600"/>
            </a:lvl8pPr>
            <a:lvl9pPr>
              <a:defRPr sz="7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393396" y="12618720"/>
            <a:ext cx="11206876" cy="23377740"/>
          </a:xfrm>
        </p:spPr>
        <p:txBody>
          <a:bodyPr/>
          <a:lstStyle>
            <a:lvl1pPr marL="0" indent="0">
              <a:buNone/>
              <a:defRPr sz="6080"/>
            </a:lvl1pPr>
            <a:lvl2pPr marL="1737360" indent="0">
              <a:buNone/>
              <a:defRPr sz="5320"/>
            </a:lvl2pPr>
            <a:lvl3pPr marL="3474720" indent="0">
              <a:buNone/>
              <a:defRPr sz="4560"/>
            </a:lvl3pPr>
            <a:lvl4pPr marL="5212080" indent="0">
              <a:buNone/>
              <a:defRPr sz="3800"/>
            </a:lvl4pPr>
            <a:lvl5pPr marL="6949440" indent="0">
              <a:buNone/>
              <a:defRPr sz="3800"/>
            </a:lvl5pPr>
            <a:lvl6pPr marL="8686800" indent="0">
              <a:buNone/>
              <a:defRPr sz="3800"/>
            </a:lvl6pPr>
            <a:lvl7pPr marL="10424160" indent="0">
              <a:buNone/>
              <a:defRPr sz="3800"/>
            </a:lvl7pPr>
            <a:lvl8pPr marL="12161520" indent="0">
              <a:buNone/>
              <a:defRPr sz="3800"/>
            </a:lvl8pPr>
            <a:lvl9pPr marL="13898880" indent="0">
              <a:buNone/>
              <a:defRPr sz="3800"/>
            </a:lvl9pPr>
          </a:lstStyle>
          <a:p>
            <a:pPr lvl="0"/>
            <a:r>
              <a:rPr lang="en-US"/>
              <a:t>Edit Master text styles</a:t>
            </a:r>
          </a:p>
        </p:txBody>
      </p:sp>
      <p:sp>
        <p:nvSpPr>
          <p:cNvPr id="5" name="Date Placeholder 4"/>
          <p:cNvSpPr>
            <a:spLocks noGrp="1"/>
          </p:cNvSpPr>
          <p:nvPr>
            <p:ph type="dt" sz="half" idx="10"/>
          </p:nvPr>
        </p:nvSpPr>
        <p:spPr/>
        <p:txBody>
          <a:bodyPr/>
          <a:lstStyle/>
          <a:p>
            <a:fld id="{916576BE-8418-408D-B64B-3C259612A207}" type="datetimeFigureOut">
              <a:rPr lang="en-US" smtClean="0"/>
              <a:t>10/31/2016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1402822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93396" y="2804160"/>
            <a:ext cx="11206876" cy="9814560"/>
          </a:xfrm>
        </p:spPr>
        <p:txBody>
          <a:bodyPr anchor="b"/>
          <a:lstStyle>
            <a:lvl1pPr>
              <a:defRPr sz="121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4772086" y="6056216"/>
            <a:ext cx="17590770" cy="29891567"/>
          </a:xfrm>
        </p:spPr>
        <p:txBody>
          <a:bodyPr anchor="t"/>
          <a:lstStyle>
            <a:lvl1pPr marL="0" indent="0">
              <a:buNone/>
              <a:defRPr sz="12160"/>
            </a:lvl1pPr>
            <a:lvl2pPr marL="1737360" indent="0">
              <a:buNone/>
              <a:defRPr sz="10640"/>
            </a:lvl2pPr>
            <a:lvl3pPr marL="3474720" indent="0">
              <a:buNone/>
              <a:defRPr sz="9120"/>
            </a:lvl3pPr>
            <a:lvl4pPr marL="5212080" indent="0">
              <a:buNone/>
              <a:defRPr sz="7600"/>
            </a:lvl4pPr>
            <a:lvl5pPr marL="6949440" indent="0">
              <a:buNone/>
              <a:defRPr sz="7600"/>
            </a:lvl5pPr>
            <a:lvl6pPr marL="8686800" indent="0">
              <a:buNone/>
              <a:defRPr sz="7600"/>
            </a:lvl6pPr>
            <a:lvl7pPr marL="10424160" indent="0">
              <a:buNone/>
              <a:defRPr sz="7600"/>
            </a:lvl7pPr>
            <a:lvl8pPr marL="12161520" indent="0">
              <a:buNone/>
              <a:defRPr sz="7600"/>
            </a:lvl8pPr>
            <a:lvl9pPr marL="13898880" indent="0">
              <a:buNone/>
              <a:defRPr sz="7600"/>
            </a:lvl9pPr>
          </a:lstStyle>
          <a:p>
            <a:r>
              <a:rPr lang="en-US"/>
              <a:t>Click icon to add picture</a:t>
            </a:r>
            <a:endParaRPr lang="en-US" dirty="0"/>
          </a:p>
        </p:txBody>
      </p:sp>
      <p:sp>
        <p:nvSpPr>
          <p:cNvPr id="4" name="Text Placeholder 3"/>
          <p:cNvSpPr>
            <a:spLocks noGrp="1"/>
          </p:cNvSpPr>
          <p:nvPr>
            <p:ph type="body" sz="half" idx="2"/>
          </p:nvPr>
        </p:nvSpPr>
        <p:spPr>
          <a:xfrm>
            <a:off x="2393396" y="12618720"/>
            <a:ext cx="11206876" cy="23377740"/>
          </a:xfrm>
        </p:spPr>
        <p:txBody>
          <a:bodyPr/>
          <a:lstStyle>
            <a:lvl1pPr marL="0" indent="0">
              <a:buNone/>
              <a:defRPr sz="6080"/>
            </a:lvl1pPr>
            <a:lvl2pPr marL="1737360" indent="0">
              <a:buNone/>
              <a:defRPr sz="5320"/>
            </a:lvl2pPr>
            <a:lvl3pPr marL="3474720" indent="0">
              <a:buNone/>
              <a:defRPr sz="4560"/>
            </a:lvl3pPr>
            <a:lvl4pPr marL="5212080" indent="0">
              <a:buNone/>
              <a:defRPr sz="3800"/>
            </a:lvl4pPr>
            <a:lvl5pPr marL="6949440" indent="0">
              <a:buNone/>
              <a:defRPr sz="3800"/>
            </a:lvl5pPr>
            <a:lvl6pPr marL="8686800" indent="0">
              <a:buNone/>
              <a:defRPr sz="3800"/>
            </a:lvl6pPr>
            <a:lvl7pPr marL="10424160" indent="0">
              <a:buNone/>
              <a:defRPr sz="3800"/>
            </a:lvl7pPr>
            <a:lvl8pPr marL="12161520" indent="0">
              <a:buNone/>
              <a:defRPr sz="3800"/>
            </a:lvl8pPr>
            <a:lvl9pPr marL="13898880" indent="0">
              <a:buNone/>
              <a:defRPr sz="3800"/>
            </a:lvl9pPr>
          </a:lstStyle>
          <a:p>
            <a:pPr lvl="0"/>
            <a:r>
              <a:rPr lang="en-US"/>
              <a:t>Edit Master text styles</a:t>
            </a:r>
          </a:p>
        </p:txBody>
      </p:sp>
      <p:sp>
        <p:nvSpPr>
          <p:cNvPr id="5" name="Date Placeholder 4"/>
          <p:cNvSpPr>
            <a:spLocks noGrp="1"/>
          </p:cNvSpPr>
          <p:nvPr>
            <p:ph type="dt" sz="half" idx="10"/>
          </p:nvPr>
        </p:nvSpPr>
        <p:spPr/>
        <p:txBody>
          <a:bodyPr/>
          <a:lstStyle/>
          <a:p>
            <a:fld id="{916576BE-8418-408D-B64B-3C259612A207}" type="datetimeFigureOut">
              <a:rPr lang="en-US" smtClean="0"/>
              <a:t>10/31/2016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32694802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6576BE-8418-408D-B64B-3C259612A207}" type="datetimeFigureOut">
              <a:rPr lang="en-US" smtClean="0"/>
              <a:t>10/31/2016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91851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865967" y="2239433"/>
            <a:ext cx="7492365" cy="3564594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388872" y="2239433"/>
            <a:ext cx="22042755" cy="3564594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6576BE-8418-408D-B64B-3C259612A207}" type="datetimeFigureOut">
              <a:rPr lang="en-US" smtClean="0"/>
              <a:t>10/31/2016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CC12E9D-964F-43F4-B603-973B4248389D}" type="slidenum">
              <a:rPr lang="en-US" smtClean="0"/>
              <a:t>‹#›</a:t>
            </a:fld>
            <a:endParaRPr lang="en-US"/>
          </a:p>
        </p:txBody>
      </p:sp>
    </p:spTree>
    <p:extLst>
      <p:ext uri="{BB962C8B-B14F-4D97-AF65-F5344CB8AC3E}">
        <p14:creationId xmlns:p14="http://schemas.microsoft.com/office/powerpoint/2010/main" val="2734954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88870" y="2239442"/>
            <a:ext cx="29969460" cy="813012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388870" y="11197167"/>
            <a:ext cx="29969460" cy="266882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388870" y="38985623"/>
            <a:ext cx="7818120" cy="2239433"/>
          </a:xfrm>
          <a:prstGeom prst="rect">
            <a:avLst/>
          </a:prstGeom>
        </p:spPr>
        <p:txBody>
          <a:bodyPr vert="horz" lIns="91440" tIns="45720" rIns="91440" bIns="45720" rtlCol="0" anchor="ctr"/>
          <a:lstStyle>
            <a:lvl1pPr algn="l">
              <a:defRPr sz="4560">
                <a:solidFill>
                  <a:schemeClr val="tx1">
                    <a:tint val="75000"/>
                  </a:schemeClr>
                </a:solidFill>
              </a:defRPr>
            </a:lvl1pPr>
          </a:lstStyle>
          <a:p>
            <a:fld id="{916576BE-8418-408D-B64B-3C259612A207}" type="datetimeFigureOut">
              <a:rPr lang="en-US" smtClean="0"/>
              <a:t>10/31/2016</a:t>
            </a:fld>
            <a:endParaRPr lang="en-US"/>
          </a:p>
        </p:txBody>
      </p:sp>
      <p:sp>
        <p:nvSpPr>
          <p:cNvPr id="5" name="Footer Placeholder 4"/>
          <p:cNvSpPr>
            <a:spLocks noGrp="1"/>
          </p:cNvSpPr>
          <p:nvPr>
            <p:ph type="ftr" sz="quarter" idx="3"/>
          </p:nvPr>
        </p:nvSpPr>
        <p:spPr>
          <a:xfrm>
            <a:off x="11510010" y="38985623"/>
            <a:ext cx="11727180" cy="2239433"/>
          </a:xfrm>
          <a:prstGeom prst="rect">
            <a:avLst/>
          </a:prstGeom>
        </p:spPr>
        <p:txBody>
          <a:bodyPr vert="horz" lIns="91440" tIns="45720" rIns="91440" bIns="45720" rtlCol="0" anchor="ctr"/>
          <a:lstStyle>
            <a:lvl1pPr algn="ctr">
              <a:defRPr sz="456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4540210" y="38985623"/>
            <a:ext cx="7818120" cy="2239433"/>
          </a:xfrm>
          <a:prstGeom prst="rect">
            <a:avLst/>
          </a:prstGeom>
        </p:spPr>
        <p:txBody>
          <a:bodyPr vert="horz" lIns="91440" tIns="45720" rIns="91440" bIns="45720" rtlCol="0" anchor="ctr"/>
          <a:lstStyle>
            <a:lvl1pPr algn="r">
              <a:defRPr sz="4560">
                <a:solidFill>
                  <a:schemeClr val="tx1">
                    <a:tint val="75000"/>
                  </a:schemeClr>
                </a:solidFill>
              </a:defRPr>
            </a:lvl1pPr>
          </a:lstStyle>
          <a:p>
            <a:fld id="{3CC12E9D-964F-43F4-B603-973B4248389D}" type="slidenum">
              <a:rPr lang="en-US" smtClean="0"/>
              <a:t>‹#›</a:t>
            </a:fld>
            <a:endParaRPr lang="en-US"/>
          </a:p>
        </p:txBody>
      </p:sp>
    </p:spTree>
    <p:extLst>
      <p:ext uri="{BB962C8B-B14F-4D97-AF65-F5344CB8AC3E}">
        <p14:creationId xmlns:p14="http://schemas.microsoft.com/office/powerpoint/2010/main" val="21930849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474720" rtl="0" eaLnBrk="1" latinLnBrk="0" hangingPunct="1">
        <a:lnSpc>
          <a:spcPct val="90000"/>
        </a:lnSpc>
        <a:spcBef>
          <a:spcPct val="0"/>
        </a:spcBef>
        <a:buNone/>
        <a:defRPr sz="16720" kern="1200">
          <a:solidFill>
            <a:schemeClr val="tx1"/>
          </a:solidFill>
          <a:latin typeface="+mj-lt"/>
          <a:ea typeface="+mj-ea"/>
          <a:cs typeface="+mj-cs"/>
        </a:defRPr>
      </a:lvl1pPr>
    </p:titleStyle>
    <p:bodyStyle>
      <a:lvl1pPr marL="868680" indent="-868680" algn="l" defTabSz="3474720" rtl="0" eaLnBrk="1" latinLnBrk="0" hangingPunct="1">
        <a:lnSpc>
          <a:spcPct val="90000"/>
        </a:lnSpc>
        <a:spcBef>
          <a:spcPts val="3800"/>
        </a:spcBef>
        <a:buFont typeface="Arial" panose="020B0604020202020204" pitchFamily="34" charset="0"/>
        <a:buChar char="•"/>
        <a:defRPr sz="10640" kern="1200">
          <a:solidFill>
            <a:schemeClr val="tx1"/>
          </a:solidFill>
          <a:latin typeface="+mn-lt"/>
          <a:ea typeface="+mn-ea"/>
          <a:cs typeface="+mn-cs"/>
        </a:defRPr>
      </a:lvl1pPr>
      <a:lvl2pPr marL="2606040" indent="-868680" algn="l" defTabSz="3474720" rtl="0" eaLnBrk="1" latinLnBrk="0" hangingPunct="1">
        <a:lnSpc>
          <a:spcPct val="90000"/>
        </a:lnSpc>
        <a:spcBef>
          <a:spcPts val="1900"/>
        </a:spcBef>
        <a:buFont typeface="Arial" panose="020B0604020202020204" pitchFamily="34" charset="0"/>
        <a:buChar char="•"/>
        <a:defRPr sz="9120" kern="1200">
          <a:solidFill>
            <a:schemeClr val="tx1"/>
          </a:solidFill>
          <a:latin typeface="+mn-lt"/>
          <a:ea typeface="+mn-ea"/>
          <a:cs typeface="+mn-cs"/>
        </a:defRPr>
      </a:lvl2pPr>
      <a:lvl3pPr marL="4343400" indent="-868680" algn="l" defTabSz="3474720" rtl="0" eaLnBrk="1" latinLnBrk="0" hangingPunct="1">
        <a:lnSpc>
          <a:spcPct val="90000"/>
        </a:lnSpc>
        <a:spcBef>
          <a:spcPts val="1900"/>
        </a:spcBef>
        <a:buFont typeface="Arial" panose="020B0604020202020204" pitchFamily="34" charset="0"/>
        <a:buChar char="•"/>
        <a:defRPr sz="7600" kern="1200">
          <a:solidFill>
            <a:schemeClr val="tx1"/>
          </a:solidFill>
          <a:latin typeface="+mn-lt"/>
          <a:ea typeface="+mn-ea"/>
          <a:cs typeface="+mn-cs"/>
        </a:defRPr>
      </a:lvl3pPr>
      <a:lvl4pPr marL="6080760" indent="-868680" algn="l" defTabSz="3474720" rtl="0" eaLnBrk="1" latinLnBrk="0" hangingPunct="1">
        <a:lnSpc>
          <a:spcPct val="90000"/>
        </a:lnSpc>
        <a:spcBef>
          <a:spcPts val="1900"/>
        </a:spcBef>
        <a:buFont typeface="Arial" panose="020B0604020202020204" pitchFamily="34" charset="0"/>
        <a:buChar char="•"/>
        <a:defRPr sz="6840" kern="1200">
          <a:solidFill>
            <a:schemeClr val="tx1"/>
          </a:solidFill>
          <a:latin typeface="+mn-lt"/>
          <a:ea typeface="+mn-ea"/>
          <a:cs typeface="+mn-cs"/>
        </a:defRPr>
      </a:lvl4pPr>
      <a:lvl5pPr marL="7818120" indent="-868680" algn="l" defTabSz="3474720" rtl="0" eaLnBrk="1" latinLnBrk="0" hangingPunct="1">
        <a:lnSpc>
          <a:spcPct val="90000"/>
        </a:lnSpc>
        <a:spcBef>
          <a:spcPts val="1900"/>
        </a:spcBef>
        <a:buFont typeface="Arial" panose="020B0604020202020204" pitchFamily="34" charset="0"/>
        <a:buChar char="•"/>
        <a:defRPr sz="6840" kern="1200">
          <a:solidFill>
            <a:schemeClr val="tx1"/>
          </a:solidFill>
          <a:latin typeface="+mn-lt"/>
          <a:ea typeface="+mn-ea"/>
          <a:cs typeface="+mn-cs"/>
        </a:defRPr>
      </a:lvl5pPr>
      <a:lvl6pPr marL="9555480" indent="-868680" algn="l" defTabSz="3474720" rtl="0" eaLnBrk="1" latinLnBrk="0" hangingPunct="1">
        <a:lnSpc>
          <a:spcPct val="90000"/>
        </a:lnSpc>
        <a:spcBef>
          <a:spcPts val="1900"/>
        </a:spcBef>
        <a:buFont typeface="Arial" panose="020B0604020202020204" pitchFamily="34" charset="0"/>
        <a:buChar char="•"/>
        <a:defRPr sz="6840" kern="1200">
          <a:solidFill>
            <a:schemeClr val="tx1"/>
          </a:solidFill>
          <a:latin typeface="+mn-lt"/>
          <a:ea typeface="+mn-ea"/>
          <a:cs typeface="+mn-cs"/>
        </a:defRPr>
      </a:lvl6pPr>
      <a:lvl7pPr marL="11292840" indent="-868680" algn="l" defTabSz="3474720" rtl="0" eaLnBrk="1" latinLnBrk="0" hangingPunct="1">
        <a:lnSpc>
          <a:spcPct val="90000"/>
        </a:lnSpc>
        <a:spcBef>
          <a:spcPts val="1900"/>
        </a:spcBef>
        <a:buFont typeface="Arial" panose="020B0604020202020204" pitchFamily="34" charset="0"/>
        <a:buChar char="•"/>
        <a:defRPr sz="6840" kern="1200">
          <a:solidFill>
            <a:schemeClr val="tx1"/>
          </a:solidFill>
          <a:latin typeface="+mn-lt"/>
          <a:ea typeface="+mn-ea"/>
          <a:cs typeface="+mn-cs"/>
        </a:defRPr>
      </a:lvl7pPr>
      <a:lvl8pPr marL="13030200" indent="-868680" algn="l" defTabSz="3474720" rtl="0" eaLnBrk="1" latinLnBrk="0" hangingPunct="1">
        <a:lnSpc>
          <a:spcPct val="90000"/>
        </a:lnSpc>
        <a:spcBef>
          <a:spcPts val="1900"/>
        </a:spcBef>
        <a:buFont typeface="Arial" panose="020B0604020202020204" pitchFamily="34" charset="0"/>
        <a:buChar char="•"/>
        <a:defRPr sz="6840" kern="1200">
          <a:solidFill>
            <a:schemeClr val="tx1"/>
          </a:solidFill>
          <a:latin typeface="+mn-lt"/>
          <a:ea typeface="+mn-ea"/>
          <a:cs typeface="+mn-cs"/>
        </a:defRPr>
      </a:lvl8pPr>
      <a:lvl9pPr marL="14767560" indent="-868680" algn="l" defTabSz="3474720" rtl="0" eaLnBrk="1" latinLnBrk="0" hangingPunct="1">
        <a:lnSpc>
          <a:spcPct val="90000"/>
        </a:lnSpc>
        <a:spcBef>
          <a:spcPts val="1900"/>
        </a:spcBef>
        <a:buFont typeface="Arial" panose="020B0604020202020204" pitchFamily="34" charset="0"/>
        <a:buChar char="•"/>
        <a:defRPr sz="6840" kern="1200">
          <a:solidFill>
            <a:schemeClr val="tx1"/>
          </a:solidFill>
          <a:latin typeface="+mn-lt"/>
          <a:ea typeface="+mn-ea"/>
          <a:cs typeface="+mn-cs"/>
        </a:defRPr>
      </a:lvl9pPr>
    </p:bodyStyle>
    <p:otherStyle>
      <a:defPPr>
        <a:defRPr lang="en-US"/>
      </a:defPPr>
      <a:lvl1pPr marL="0" algn="l" defTabSz="3474720" rtl="0" eaLnBrk="1" latinLnBrk="0" hangingPunct="1">
        <a:defRPr sz="6840" kern="1200">
          <a:solidFill>
            <a:schemeClr val="tx1"/>
          </a:solidFill>
          <a:latin typeface="+mn-lt"/>
          <a:ea typeface="+mn-ea"/>
          <a:cs typeface="+mn-cs"/>
        </a:defRPr>
      </a:lvl1pPr>
      <a:lvl2pPr marL="1737360" algn="l" defTabSz="3474720" rtl="0" eaLnBrk="1" latinLnBrk="0" hangingPunct="1">
        <a:defRPr sz="6840" kern="1200">
          <a:solidFill>
            <a:schemeClr val="tx1"/>
          </a:solidFill>
          <a:latin typeface="+mn-lt"/>
          <a:ea typeface="+mn-ea"/>
          <a:cs typeface="+mn-cs"/>
        </a:defRPr>
      </a:lvl2pPr>
      <a:lvl3pPr marL="3474720" algn="l" defTabSz="3474720" rtl="0" eaLnBrk="1" latinLnBrk="0" hangingPunct="1">
        <a:defRPr sz="6840" kern="1200">
          <a:solidFill>
            <a:schemeClr val="tx1"/>
          </a:solidFill>
          <a:latin typeface="+mn-lt"/>
          <a:ea typeface="+mn-ea"/>
          <a:cs typeface="+mn-cs"/>
        </a:defRPr>
      </a:lvl3pPr>
      <a:lvl4pPr marL="5212080" algn="l" defTabSz="3474720" rtl="0" eaLnBrk="1" latinLnBrk="0" hangingPunct="1">
        <a:defRPr sz="6840" kern="1200">
          <a:solidFill>
            <a:schemeClr val="tx1"/>
          </a:solidFill>
          <a:latin typeface="+mn-lt"/>
          <a:ea typeface="+mn-ea"/>
          <a:cs typeface="+mn-cs"/>
        </a:defRPr>
      </a:lvl4pPr>
      <a:lvl5pPr marL="6949440" algn="l" defTabSz="3474720" rtl="0" eaLnBrk="1" latinLnBrk="0" hangingPunct="1">
        <a:defRPr sz="6840" kern="1200">
          <a:solidFill>
            <a:schemeClr val="tx1"/>
          </a:solidFill>
          <a:latin typeface="+mn-lt"/>
          <a:ea typeface="+mn-ea"/>
          <a:cs typeface="+mn-cs"/>
        </a:defRPr>
      </a:lvl5pPr>
      <a:lvl6pPr marL="8686800" algn="l" defTabSz="3474720" rtl="0" eaLnBrk="1" latinLnBrk="0" hangingPunct="1">
        <a:defRPr sz="6840" kern="1200">
          <a:solidFill>
            <a:schemeClr val="tx1"/>
          </a:solidFill>
          <a:latin typeface="+mn-lt"/>
          <a:ea typeface="+mn-ea"/>
          <a:cs typeface="+mn-cs"/>
        </a:defRPr>
      </a:lvl6pPr>
      <a:lvl7pPr marL="10424160" algn="l" defTabSz="3474720" rtl="0" eaLnBrk="1" latinLnBrk="0" hangingPunct="1">
        <a:defRPr sz="6840" kern="1200">
          <a:solidFill>
            <a:schemeClr val="tx1"/>
          </a:solidFill>
          <a:latin typeface="+mn-lt"/>
          <a:ea typeface="+mn-ea"/>
          <a:cs typeface="+mn-cs"/>
        </a:defRPr>
      </a:lvl7pPr>
      <a:lvl8pPr marL="12161520" algn="l" defTabSz="3474720" rtl="0" eaLnBrk="1" latinLnBrk="0" hangingPunct="1">
        <a:defRPr sz="6840" kern="1200">
          <a:solidFill>
            <a:schemeClr val="tx1"/>
          </a:solidFill>
          <a:latin typeface="+mn-lt"/>
          <a:ea typeface="+mn-ea"/>
          <a:cs typeface="+mn-cs"/>
        </a:defRPr>
      </a:lvl8pPr>
      <a:lvl9pPr marL="13898880" algn="l" defTabSz="3474720" rtl="0" eaLnBrk="1" latinLnBrk="0" hangingPunct="1">
        <a:defRPr sz="68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jpeg"/><Relationship Id="rId12"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20000"/>
            <a:lum/>
          </a:blip>
          <a:srcRect/>
          <a:stretch>
            <a:fillRect l="-31000" r="-31000"/>
          </a:stretch>
        </a:blipFill>
        <a:effectLst/>
      </p:bgPr>
    </p:bg>
    <p:spTree>
      <p:nvGrpSpPr>
        <p:cNvPr id="1" name=""/>
        <p:cNvGrpSpPr/>
        <p:nvPr/>
      </p:nvGrpSpPr>
      <p:grpSpPr>
        <a:xfrm>
          <a:off x="0" y="0"/>
          <a:ext cx="0" cy="0"/>
          <a:chOff x="0" y="0"/>
          <a:chExt cx="0" cy="0"/>
        </a:xfrm>
      </p:grpSpPr>
      <p:sp>
        <p:nvSpPr>
          <p:cNvPr id="5" name="TextBox 4"/>
          <p:cNvSpPr txBox="1"/>
          <p:nvPr/>
        </p:nvSpPr>
        <p:spPr>
          <a:xfrm>
            <a:off x="4696277" y="930425"/>
            <a:ext cx="25363546" cy="1261884"/>
          </a:xfrm>
          <a:prstGeom prst="rect">
            <a:avLst/>
          </a:prstGeom>
          <a:noFill/>
        </p:spPr>
        <p:txBody>
          <a:bodyPr wrap="none" rtlCol="0">
            <a:spAutoFit/>
          </a:bodyPr>
          <a:lstStyle/>
          <a:p>
            <a:r>
              <a:rPr lang="en-US" sz="7600" dirty="0"/>
              <a:t>Systemic Analysis of Biological Data from an Isogenic Maize Line</a:t>
            </a:r>
          </a:p>
        </p:txBody>
      </p:sp>
      <p:sp>
        <p:nvSpPr>
          <p:cNvPr id="6" name="TextBox 5"/>
          <p:cNvSpPr txBox="1"/>
          <p:nvPr/>
        </p:nvSpPr>
        <p:spPr>
          <a:xfrm>
            <a:off x="9993947" y="2381905"/>
            <a:ext cx="14757823" cy="750205"/>
          </a:xfrm>
          <a:prstGeom prst="rect">
            <a:avLst/>
          </a:prstGeom>
          <a:noFill/>
        </p:spPr>
        <p:txBody>
          <a:bodyPr wrap="none" rtlCol="0">
            <a:spAutoFit/>
          </a:bodyPr>
          <a:lstStyle/>
          <a:p>
            <a:r>
              <a:rPr lang="en-US" sz="4275" dirty="0"/>
              <a:t>Merritt </a:t>
            </a:r>
            <a:r>
              <a:rPr lang="en-US" sz="4275" dirty="0" err="1"/>
              <a:t>Bryer</a:t>
            </a:r>
            <a:r>
              <a:rPr lang="en-US" sz="4275" dirty="0"/>
              <a:t> Burch, Boris </a:t>
            </a:r>
            <a:r>
              <a:rPr lang="en-US" sz="4275" dirty="0" err="1"/>
              <a:t>Shmagin</a:t>
            </a:r>
            <a:r>
              <a:rPr lang="en-US" sz="4275" dirty="0"/>
              <a:t>, </a:t>
            </a:r>
            <a:r>
              <a:rPr lang="en-US" sz="4275" dirty="0" err="1"/>
              <a:t>Vivek</a:t>
            </a:r>
            <a:r>
              <a:rPr lang="en-US" sz="4275" dirty="0"/>
              <a:t> Shrestha, Donald Auger</a:t>
            </a:r>
          </a:p>
        </p:txBody>
      </p:sp>
      <p:sp>
        <p:nvSpPr>
          <p:cNvPr id="7" name="TextBox 6"/>
          <p:cNvSpPr txBox="1"/>
          <p:nvPr/>
        </p:nvSpPr>
        <p:spPr>
          <a:xfrm>
            <a:off x="7645374" y="3127493"/>
            <a:ext cx="19490977" cy="677108"/>
          </a:xfrm>
          <a:prstGeom prst="rect">
            <a:avLst/>
          </a:prstGeom>
          <a:noFill/>
        </p:spPr>
        <p:txBody>
          <a:bodyPr wrap="none" rtlCol="0">
            <a:spAutoFit/>
          </a:bodyPr>
          <a:lstStyle/>
          <a:p>
            <a:r>
              <a:rPr lang="en-US" sz="3800" dirty="0"/>
              <a:t>Department of Biology and Microbiology, South Dakota State University, Brookings SD 57006, USA</a:t>
            </a:r>
          </a:p>
        </p:txBody>
      </p:sp>
      <p:sp>
        <p:nvSpPr>
          <p:cNvPr id="9" name="TextBox 8"/>
          <p:cNvSpPr txBox="1"/>
          <p:nvPr/>
        </p:nvSpPr>
        <p:spPr>
          <a:xfrm>
            <a:off x="449814" y="24913524"/>
            <a:ext cx="11581856" cy="823302"/>
          </a:xfrm>
          <a:prstGeom prst="rect">
            <a:avLst/>
          </a:prstGeom>
          <a:noFill/>
          <a:ln>
            <a:solidFill>
              <a:schemeClr val="tx1"/>
            </a:solidFill>
          </a:ln>
        </p:spPr>
        <p:txBody>
          <a:bodyPr wrap="square" rtlCol="0">
            <a:spAutoFit/>
          </a:bodyPr>
          <a:lstStyle/>
          <a:p>
            <a:pPr algn="ctr"/>
            <a:r>
              <a:rPr lang="en-US" sz="4750" dirty="0"/>
              <a:t>Materials and Methods</a:t>
            </a:r>
          </a:p>
        </p:txBody>
      </p:sp>
      <p:sp>
        <p:nvSpPr>
          <p:cNvPr id="11" name="TextBox 10"/>
          <p:cNvSpPr txBox="1"/>
          <p:nvPr/>
        </p:nvSpPr>
        <p:spPr>
          <a:xfrm>
            <a:off x="449815" y="5843571"/>
            <a:ext cx="11581855" cy="4185761"/>
          </a:xfrm>
          <a:prstGeom prst="rect">
            <a:avLst/>
          </a:prstGeom>
          <a:noFill/>
        </p:spPr>
        <p:txBody>
          <a:bodyPr wrap="square" rtlCol="0">
            <a:spAutoFit/>
          </a:bodyPr>
          <a:lstStyle/>
          <a:p>
            <a:pPr marL="457200" indent="-457200" algn="just">
              <a:buFont typeface="Arial" panose="020B0604020202020204" pitchFamily="34" charset="0"/>
              <a:buChar char="•"/>
            </a:pPr>
            <a:r>
              <a:rPr lang="en-US" sz="3325" dirty="0"/>
              <a:t>Double-haploid plants formed from single-seed descent lines are thought to have no genetic variability</a:t>
            </a:r>
          </a:p>
          <a:p>
            <a:pPr marL="457200" indent="-457200" algn="just">
              <a:buFont typeface="Arial" panose="020B0604020202020204" pitchFamily="34" charset="0"/>
              <a:buChar char="•"/>
            </a:pPr>
            <a:r>
              <a:rPr lang="en-US" sz="3325" dirty="0"/>
              <a:t>Measuring numerous quantitative traits has shown that additional </a:t>
            </a:r>
            <a:r>
              <a:rPr lang="en-US" sz="3325" dirty="0" err="1"/>
              <a:t>selfing</a:t>
            </a:r>
            <a:r>
              <a:rPr lang="en-US" sz="3325" dirty="0"/>
              <a:t> generations lead to greater phenotypic variability</a:t>
            </a:r>
          </a:p>
          <a:p>
            <a:pPr marL="457200" indent="-457200" algn="just">
              <a:buFont typeface="Arial" panose="020B0604020202020204" pitchFamily="34" charset="0"/>
              <a:buChar char="•"/>
            </a:pPr>
            <a:r>
              <a:rPr lang="en-US" sz="3325" dirty="0"/>
              <a:t>Finding trends and relationships in large datasets can be difficult to understand, thus, using multivariate analyses to explain biological variabilities and patterns is incredibly useful</a:t>
            </a:r>
          </a:p>
        </p:txBody>
      </p:sp>
      <p:sp>
        <p:nvSpPr>
          <p:cNvPr id="12" name="TextBox 11"/>
          <p:cNvSpPr txBox="1"/>
          <p:nvPr/>
        </p:nvSpPr>
        <p:spPr>
          <a:xfrm>
            <a:off x="12929735" y="4628651"/>
            <a:ext cx="21131665" cy="823302"/>
          </a:xfrm>
          <a:prstGeom prst="rect">
            <a:avLst/>
          </a:prstGeom>
          <a:noFill/>
          <a:ln>
            <a:solidFill>
              <a:schemeClr val="tx1"/>
            </a:solidFill>
          </a:ln>
        </p:spPr>
        <p:txBody>
          <a:bodyPr wrap="square" rtlCol="0">
            <a:spAutoFit/>
          </a:bodyPr>
          <a:lstStyle/>
          <a:p>
            <a:pPr algn="ctr"/>
            <a:r>
              <a:rPr lang="en-US" sz="4750" dirty="0"/>
              <a:t>Results</a:t>
            </a:r>
          </a:p>
        </p:txBody>
      </p:sp>
      <p:sp>
        <p:nvSpPr>
          <p:cNvPr id="14" name="TextBox 13"/>
          <p:cNvSpPr txBox="1"/>
          <p:nvPr/>
        </p:nvSpPr>
        <p:spPr>
          <a:xfrm>
            <a:off x="449814" y="10421626"/>
            <a:ext cx="11581856" cy="823302"/>
          </a:xfrm>
          <a:prstGeom prst="rect">
            <a:avLst/>
          </a:prstGeom>
          <a:noFill/>
          <a:ln>
            <a:solidFill>
              <a:schemeClr val="tx1"/>
            </a:solidFill>
          </a:ln>
        </p:spPr>
        <p:txBody>
          <a:bodyPr wrap="square" rtlCol="0">
            <a:spAutoFit/>
          </a:bodyPr>
          <a:lstStyle/>
          <a:p>
            <a:pPr algn="ctr"/>
            <a:r>
              <a:rPr lang="en-US" sz="4750" dirty="0"/>
              <a:t>Introduction &amp; Background</a:t>
            </a:r>
          </a:p>
        </p:txBody>
      </p:sp>
      <p:sp>
        <p:nvSpPr>
          <p:cNvPr id="16" name="TextBox 15"/>
          <p:cNvSpPr txBox="1"/>
          <p:nvPr/>
        </p:nvSpPr>
        <p:spPr>
          <a:xfrm>
            <a:off x="449814" y="4628651"/>
            <a:ext cx="11581856" cy="823302"/>
          </a:xfrm>
          <a:prstGeom prst="rect">
            <a:avLst/>
          </a:prstGeom>
          <a:noFill/>
          <a:ln>
            <a:solidFill>
              <a:schemeClr val="tx1"/>
            </a:solidFill>
          </a:ln>
        </p:spPr>
        <p:txBody>
          <a:bodyPr wrap="square" rtlCol="0">
            <a:spAutoFit/>
          </a:bodyPr>
          <a:lstStyle/>
          <a:p>
            <a:pPr algn="ctr"/>
            <a:r>
              <a:rPr lang="en-US" sz="4750" dirty="0"/>
              <a:t>Abstract</a:t>
            </a:r>
          </a:p>
        </p:txBody>
      </p:sp>
      <p:pic>
        <p:nvPicPr>
          <p:cNvPr id="17" name="Picture 16"/>
          <p:cNvPicPr>
            <a:picLocks noChangeAspect="1"/>
          </p:cNvPicPr>
          <p:nvPr/>
        </p:nvPicPr>
        <p:blipFill>
          <a:blip r:embed="rId3"/>
          <a:stretch>
            <a:fillRect/>
          </a:stretch>
        </p:blipFill>
        <p:spPr>
          <a:xfrm>
            <a:off x="1392061" y="999989"/>
            <a:ext cx="2073460" cy="3110190"/>
          </a:xfrm>
          <a:prstGeom prst="rect">
            <a:avLst/>
          </a:prstGeom>
        </p:spPr>
      </p:pic>
      <p:sp>
        <p:nvSpPr>
          <p:cNvPr id="20" name="TextBox 19"/>
          <p:cNvSpPr txBox="1"/>
          <p:nvPr/>
        </p:nvSpPr>
        <p:spPr>
          <a:xfrm>
            <a:off x="449814" y="11637078"/>
            <a:ext cx="11581856" cy="12884296"/>
          </a:xfrm>
          <a:prstGeom prst="rect">
            <a:avLst/>
          </a:prstGeom>
          <a:noFill/>
        </p:spPr>
        <p:txBody>
          <a:bodyPr wrap="square" rtlCol="0">
            <a:spAutoFit/>
          </a:bodyPr>
          <a:lstStyle/>
          <a:p>
            <a:r>
              <a:rPr lang="en-US" sz="3325" b="1" u="sng" dirty="0"/>
              <a:t>Doubled-Haploids (DH)</a:t>
            </a:r>
          </a:p>
          <a:p>
            <a:pPr marL="434340" indent="-434340">
              <a:buFont typeface="Arial" panose="020B0604020202020204" pitchFamily="34" charset="0"/>
              <a:buChar char="•"/>
            </a:pPr>
            <a:r>
              <a:rPr lang="en-US" sz="3325" dirty="0"/>
              <a:t>Monoploid plants can chemically or naturally </a:t>
            </a:r>
            <a:r>
              <a:rPr lang="en-US" sz="3325" dirty="0" err="1"/>
              <a:t>diplodize</a:t>
            </a:r>
            <a:r>
              <a:rPr lang="en-US" sz="3325" dirty="0"/>
              <a:t> to create completely homozygous progeny so that both parent and progeny are identical genotypically and phenotypically</a:t>
            </a:r>
          </a:p>
          <a:p>
            <a:pPr marL="434340" indent="-434340">
              <a:buFont typeface="Arial" panose="020B0604020202020204" pitchFamily="34" charset="0"/>
              <a:buChar char="•"/>
            </a:pPr>
            <a:r>
              <a:rPr lang="en-US" sz="3325" dirty="0" err="1"/>
              <a:t>Sprauge</a:t>
            </a:r>
            <a:r>
              <a:rPr lang="en-US" sz="3325" dirty="0"/>
              <a:t> et al., (1960) showed that genetic variability in doubled-haploid maize increases with continued self fertilization</a:t>
            </a:r>
          </a:p>
          <a:p>
            <a:pPr marL="434340" indent="-434340">
              <a:buFont typeface="Arial" panose="020B0604020202020204" pitchFamily="34" charset="0"/>
              <a:buChar char="•"/>
            </a:pPr>
            <a:r>
              <a:rPr lang="en-US" sz="3325" dirty="0"/>
              <a:t>Genetic variability found proceeded faster than normal rate of mutation, potentially suggesting epigenetic control</a:t>
            </a:r>
          </a:p>
          <a:p>
            <a:pPr marL="434340" indent="-434340">
              <a:buFont typeface="Arial" panose="020B0604020202020204" pitchFamily="34" charset="0"/>
              <a:buChar char="•"/>
            </a:pPr>
            <a:r>
              <a:rPr lang="en-US" sz="3325" dirty="0"/>
              <a:t>DH maize are create inbred lines that are used extensively in breeding programs to create hybrids</a:t>
            </a:r>
          </a:p>
          <a:p>
            <a:pPr marL="434340" indent="-434340">
              <a:buFont typeface="Arial" panose="020B0604020202020204" pitchFamily="34" charset="0"/>
              <a:buChar char="•"/>
            </a:pPr>
            <a:r>
              <a:rPr lang="en-US" sz="3325" dirty="0"/>
              <a:t>Genetic breakdown of inbred-stocks could be detrimental to farmers</a:t>
            </a:r>
          </a:p>
          <a:p>
            <a:endParaRPr lang="en-US" sz="3325" dirty="0"/>
          </a:p>
          <a:p>
            <a:r>
              <a:rPr lang="en-US" sz="3325" b="1" u="sng" dirty="0"/>
              <a:t>Principal Component Analysis (PCA)</a:t>
            </a:r>
            <a:endParaRPr lang="en-US" sz="3325" b="1" u="sng" dirty="0"/>
          </a:p>
          <a:p>
            <a:pPr marL="434340" indent="-434340">
              <a:buFont typeface="Arial" panose="020B0604020202020204" pitchFamily="34" charset="0"/>
              <a:buChar char="•"/>
            </a:pPr>
            <a:r>
              <a:rPr lang="en-US" sz="3325" dirty="0"/>
              <a:t>PCA is a statistical technique used to summarize systematic patterns of variation into a small number of subsets, called principal components.</a:t>
            </a:r>
          </a:p>
          <a:p>
            <a:pPr marL="434340" indent="-434340">
              <a:buFont typeface="Arial" panose="020B0604020202020204" pitchFamily="34" charset="0"/>
              <a:buChar char="•"/>
            </a:pPr>
            <a:r>
              <a:rPr lang="en-US" sz="3325" dirty="0"/>
              <a:t>These principal components are combinations of our measured traits whose variability explains a majority of the relationships in our data.</a:t>
            </a:r>
          </a:p>
          <a:p>
            <a:pPr marL="434340" indent="-434340" algn="just">
              <a:buFont typeface="Arial" panose="020B0604020202020204" pitchFamily="34" charset="0"/>
              <a:buChar char="•"/>
            </a:pPr>
            <a:r>
              <a:rPr lang="en-US" sz="3325" dirty="0"/>
              <a:t>These analyses are useful when attempting to explain patterns in a population based on multiple variables, unlike single variable statistical techniques like 1/2-way ANOVAS or mixed effect models.</a:t>
            </a:r>
          </a:p>
        </p:txBody>
      </p:sp>
      <p:pic>
        <p:nvPicPr>
          <p:cNvPr id="8" name="Picture 7"/>
          <p:cNvPicPr>
            <a:picLocks/>
          </p:cNvPicPr>
          <p:nvPr/>
        </p:nvPicPr>
        <p:blipFill>
          <a:blip r:embed="rId4">
            <a:extLst>
              <a:ext uri="{28A0092B-C50C-407E-A947-70E740481C1C}">
                <a14:useLocalDpi xmlns:a14="http://schemas.microsoft.com/office/drawing/2010/main" val="0"/>
              </a:ext>
            </a:extLst>
          </a:blip>
          <a:stretch>
            <a:fillRect/>
          </a:stretch>
        </p:blipFill>
        <p:spPr>
          <a:xfrm>
            <a:off x="13376936" y="15120959"/>
            <a:ext cx="9720072" cy="5541264"/>
          </a:xfrm>
          <a:prstGeom prst="rect">
            <a:avLst/>
          </a:prstGeom>
        </p:spPr>
      </p:pic>
      <p:pic>
        <p:nvPicPr>
          <p:cNvPr id="19" name="Picture 18"/>
          <p:cNvPicPr>
            <a:picLocks/>
          </p:cNvPicPr>
          <p:nvPr/>
        </p:nvPicPr>
        <p:blipFill>
          <a:blip r:embed="rId5">
            <a:extLst>
              <a:ext uri="{28A0092B-C50C-407E-A947-70E740481C1C}">
                <a14:useLocalDpi xmlns:a14="http://schemas.microsoft.com/office/drawing/2010/main" val="0"/>
              </a:ext>
            </a:extLst>
          </a:blip>
          <a:stretch>
            <a:fillRect/>
          </a:stretch>
        </p:blipFill>
        <p:spPr>
          <a:xfrm>
            <a:off x="24003814" y="5985353"/>
            <a:ext cx="9720072" cy="5541264"/>
          </a:xfrm>
          <a:prstGeom prst="rect">
            <a:avLst/>
          </a:prstGeom>
        </p:spPr>
      </p:pic>
      <p:pic>
        <p:nvPicPr>
          <p:cNvPr id="25" name="Picture 24"/>
          <p:cNvPicPr>
            <a:picLocks/>
          </p:cNvPicPr>
          <p:nvPr/>
        </p:nvPicPr>
        <p:blipFill>
          <a:blip r:embed="rId6">
            <a:extLst>
              <a:ext uri="{28A0092B-C50C-407E-A947-70E740481C1C}">
                <a14:useLocalDpi xmlns:a14="http://schemas.microsoft.com/office/drawing/2010/main" val="0"/>
              </a:ext>
            </a:extLst>
          </a:blip>
          <a:stretch>
            <a:fillRect/>
          </a:stretch>
        </p:blipFill>
        <p:spPr>
          <a:xfrm>
            <a:off x="13332562" y="23524875"/>
            <a:ext cx="9720072" cy="5541264"/>
          </a:xfrm>
          <a:prstGeom prst="rect">
            <a:avLst/>
          </a:prstGeom>
        </p:spPr>
      </p:pic>
      <p:pic>
        <p:nvPicPr>
          <p:cNvPr id="2" name="Picture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765193" y="1005176"/>
            <a:ext cx="2525556" cy="1683704"/>
          </a:xfrm>
          <a:prstGeom prst="rect">
            <a:avLst/>
          </a:prstGeom>
        </p:spPr>
      </p:pic>
      <p:pic>
        <p:nvPicPr>
          <p:cNvPr id="3" name="Picture 2"/>
          <p:cNvPicPr>
            <a:picLocks/>
          </p:cNvPicPr>
          <p:nvPr/>
        </p:nvPicPr>
        <p:blipFill>
          <a:blip r:embed="rId8">
            <a:extLst>
              <a:ext uri="{28A0092B-C50C-407E-A947-70E740481C1C}">
                <a14:useLocalDpi xmlns:a14="http://schemas.microsoft.com/office/drawing/2010/main" val="0"/>
              </a:ext>
            </a:extLst>
          </a:blip>
          <a:stretch>
            <a:fillRect/>
          </a:stretch>
        </p:blipFill>
        <p:spPr>
          <a:xfrm>
            <a:off x="24003814" y="23524875"/>
            <a:ext cx="9720072" cy="5541264"/>
          </a:xfrm>
          <a:prstGeom prst="rect">
            <a:avLst/>
          </a:prstGeom>
        </p:spPr>
      </p:pic>
      <p:pic>
        <p:nvPicPr>
          <p:cNvPr id="4" name="Picture 3"/>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38166" y="26151129"/>
            <a:ext cx="8805152" cy="7762979"/>
          </a:xfrm>
          <a:prstGeom prst="rect">
            <a:avLst/>
          </a:prstGeom>
        </p:spPr>
      </p:pic>
      <p:pic>
        <p:nvPicPr>
          <p:cNvPr id="10" name="Picture 9"/>
          <p:cNvPicPr>
            <a:picLocks/>
          </p:cNvPicPr>
          <p:nvPr/>
        </p:nvPicPr>
        <p:blipFill>
          <a:blip r:embed="rId10">
            <a:extLst>
              <a:ext uri="{28A0092B-C50C-407E-A947-70E740481C1C}">
                <a14:useLocalDpi xmlns:a14="http://schemas.microsoft.com/office/drawing/2010/main" val="0"/>
              </a:ext>
            </a:extLst>
          </a:blip>
          <a:stretch>
            <a:fillRect/>
          </a:stretch>
        </p:blipFill>
        <p:spPr>
          <a:xfrm>
            <a:off x="13332562" y="5986337"/>
            <a:ext cx="9720072" cy="5539296"/>
          </a:xfrm>
          <a:prstGeom prst="rect">
            <a:avLst/>
          </a:prstGeom>
        </p:spPr>
      </p:pic>
      <p:sp>
        <p:nvSpPr>
          <p:cNvPr id="15" name="TextBox 14"/>
          <p:cNvSpPr txBox="1"/>
          <p:nvPr/>
        </p:nvSpPr>
        <p:spPr>
          <a:xfrm>
            <a:off x="449814" y="34058486"/>
            <a:ext cx="11581856" cy="2142125"/>
          </a:xfrm>
          <a:prstGeom prst="rect">
            <a:avLst/>
          </a:prstGeom>
          <a:noFill/>
        </p:spPr>
        <p:txBody>
          <a:bodyPr wrap="square" rtlCol="0">
            <a:spAutoFit/>
          </a:bodyPr>
          <a:lstStyle/>
          <a:p>
            <a:pPr algn="just"/>
            <a:r>
              <a:rPr lang="en-US" sz="3330" dirty="0"/>
              <a:t>Fig. 1: A single seed descent line created from a B73 doubled-haploid plant were continuously </a:t>
            </a:r>
            <a:r>
              <a:rPr lang="en-US" sz="3330" dirty="0" err="1"/>
              <a:t>selfed</a:t>
            </a:r>
            <a:r>
              <a:rPr lang="en-US" sz="3330" dirty="0"/>
              <a:t> to create ten DH lineages. These lineages were further </a:t>
            </a:r>
            <a:r>
              <a:rPr lang="en-US" sz="3330" dirty="0" err="1"/>
              <a:t>selfed</a:t>
            </a:r>
            <a:r>
              <a:rPr lang="en-US" sz="3330" dirty="0"/>
              <a:t> to create the advanced generations</a:t>
            </a:r>
          </a:p>
        </p:txBody>
      </p:sp>
      <p:sp>
        <p:nvSpPr>
          <p:cNvPr id="21" name="TextBox 20"/>
          <p:cNvSpPr txBox="1"/>
          <p:nvPr/>
        </p:nvSpPr>
        <p:spPr>
          <a:xfrm>
            <a:off x="449814" y="36441241"/>
            <a:ext cx="11581856" cy="4704365"/>
          </a:xfrm>
          <a:prstGeom prst="rect">
            <a:avLst/>
          </a:prstGeom>
          <a:noFill/>
        </p:spPr>
        <p:txBody>
          <a:bodyPr wrap="square" rtlCol="0">
            <a:spAutoFit/>
          </a:bodyPr>
          <a:lstStyle/>
          <a:p>
            <a:pPr marL="457200" indent="-457200">
              <a:buFont typeface="Arial" panose="020B0604020202020204" pitchFamily="34" charset="0"/>
              <a:buChar char="•"/>
            </a:pPr>
            <a:r>
              <a:rPr lang="en-US" sz="3330" dirty="0"/>
              <a:t>In the summer of 2014 all ten lineages, with two or more generations were grown at SDSU in randomized blocks</a:t>
            </a:r>
          </a:p>
          <a:p>
            <a:pPr marL="457200" indent="-457200" algn="just">
              <a:buFont typeface="Arial" panose="020B0604020202020204" pitchFamily="34" charset="0"/>
              <a:buChar char="•"/>
            </a:pPr>
            <a:r>
              <a:rPr lang="en-US" sz="3330" dirty="0"/>
              <a:t>A total of 13 quantitative traits were measured in the DH populations: number of tassel branches, plant height, number of nodes, average kernel weight, days to silk emergence, etc..</a:t>
            </a:r>
          </a:p>
          <a:p>
            <a:pPr marL="457200" indent="-457200" algn="just">
              <a:buFont typeface="Arial" panose="020B0604020202020204" pitchFamily="34" charset="0"/>
              <a:buChar char="•"/>
            </a:pPr>
            <a:r>
              <a:rPr lang="en-US" sz="3330" dirty="0"/>
              <a:t>The data was then log transformed, centered, and scaled before PCA.</a:t>
            </a:r>
          </a:p>
          <a:p>
            <a:pPr marL="457200" indent="-457200" algn="just">
              <a:buFont typeface="Arial" panose="020B0604020202020204" pitchFamily="34" charset="0"/>
              <a:buChar char="•"/>
            </a:pPr>
            <a:r>
              <a:rPr lang="en-US" sz="3330" dirty="0"/>
              <a:t>Data visualization and analysis was performed in the stats and </a:t>
            </a:r>
            <a:r>
              <a:rPr lang="en-US" sz="3330" dirty="0" err="1"/>
              <a:t>factoextra</a:t>
            </a:r>
            <a:r>
              <a:rPr lang="en-US" sz="3330" dirty="0"/>
              <a:t> packages in R Studio (V: 3.3.1)</a:t>
            </a:r>
          </a:p>
        </p:txBody>
      </p:sp>
      <p:sp>
        <p:nvSpPr>
          <p:cNvPr id="22" name="TextBox 21"/>
          <p:cNvSpPr txBox="1"/>
          <p:nvPr/>
        </p:nvSpPr>
        <p:spPr>
          <a:xfrm>
            <a:off x="13354749" y="11673579"/>
            <a:ext cx="9764446" cy="3293209"/>
          </a:xfrm>
          <a:prstGeom prst="rect">
            <a:avLst/>
          </a:prstGeom>
          <a:noFill/>
        </p:spPr>
        <p:txBody>
          <a:bodyPr wrap="square" rtlCol="0">
            <a:spAutoFit/>
          </a:bodyPr>
          <a:lstStyle/>
          <a:p>
            <a:pPr algn="just"/>
            <a:r>
              <a:rPr lang="en-US" sz="2600" dirty="0"/>
              <a:t>Fig 2: </a:t>
            </a:r>
            <a:r>
              <a:rPr lang="en-US" sz="2600" dirty="0" err="1"/>
              <a:t>Barchart</a:t>
            </a:r>
            <a:r>
              <a:rPr lang="en-US" sz="2600" dirty="0"/>
              <a:t> depicting the mean and standard error of the number of tassel branches and the lineage-generation. The linear mixed effect model showed that there was a significant  relationship between the number of tassel branches and the lineage-generation (F</a:t>
            </a:r>
            <a:r>
              <a:rPr lang="en-US" sz="2600" baseline="-25000" dirty="0"/>
              <a:t>19,429</a:t>
            </a:r>
            <a:r>
              <a:rPr lang="en-US" sz="2600" dirty="0"/>
              <a:t>=4.47, p&lt;0.001). Least squared means post-hoc results  show significant relationships in lineage-generations that have unique letters.  ANOVAs and models, though incredibly useful in finding significant individuals, do not contribute much to explaining the population as a whole.</a:t>
            </a:r>
          </a:p>
        </p:txBody>
      </p:sp>
      <p:sp>
        <p:nvSpPr>
          <p:cNvPr id="26" name="TextBox 25"/>
          <p:cNvSpPr txBox="1"/>
          <p:nvPr/>
        </p:nvSpPr>
        <p:spPr>
          <a:xfrm>
            <a:off x="24003814" y="11631163"/>
            <a:ext cx="9720072" cy="2092881"/>
          </a:xfrm>
          <a:prstGeom prst="rect">
            <a:avLst/>
          </a:prstGeom>
          <a:noFill/>
        </p:spPr>
        <p:txBody>
          <a:bodyPr wrap="square" rtlCol="0">
            <a:spAutoFit/>
          </a:bodyPr>
          <a:lstStyle/>
          <a:p>
            <a:pPr algn="just"/>
            <a:r>
              <a:rPr lang="en-US" sz="2600" dirty="0"/>
              <a:t>Fig 3: Scree plot showing the percentage of explained variances and the number of dimensions. The first dimension, or principal component, explains only 22% of the variability in the data.  A total of  5 dimensions, equivalent to 67% of the variance would be sufficient in explaining the data. All 16 dimensions explain 100% of the variance.</a:t>
            </a:r>
          </a:p>
        </p:txBody>
      </p:sp>
      <p:sp>
        <p:nvSpPr>
          <p:cNvPr id="28" name="TextBox 27"/>
          <p:cNvSpPr txBox="1"/>
          <p:nvPr/>
        </p:nvSpPr>
        <p:spPr>
          <a:xfrm>
            <a:off x="24003815" y="32450258"/>
            <a:ext cx="10057585" cy="823302"/>
          </a:xfrm>
          <a:prstGeom prst="rect">
            <a:avLst/>
          </a:prstGeom>
          <a:noFill/>
          <a:ln>
            <a:solidFill>
              <a:schemeClr val="tx1"/>
            </a:solidFill>
          </a:ln>
        </p:spPr>
        <p:txBody>
          <a:bodyPr wrap="square" rtlCol="0">
            <a:spAutoFit/>
          </a:bodyPr>
          <a:lstStyle/>
          <a:p>
            <a:pPr algn="ctr"/>
            <a:r>
              <a:rPr lang="en-US" sz="4750" dirty="0"/>
              <a:t>Future Work</a:t>
            </a:r>
          </a:p>
        </p:txBody>
      </p:sp>
      <p:sp>
        <p:nvSpPr>
          <p:cNvPr id="29" name="TextBox 28"/>
          <p:cNvSpPr txBox="1"/>
          <p:nvPr/>
        </p:nvSpPr>
        <p:spPr>
          <a:xfrm>
            <a:off x="24003815" y="36705236"/>
            <a:ext cx="10057585" cy="823302"/>
          </a:xfrm>
          <a:prstGeom prst="rect">
            <a:avLst/>
          </a:prstGeom>
          <a:noFill/>
          <a:ln>
            <a:solidFill>
              <a:schemeClr val="tx1"/>
            </a:solidFill>
          </a:ln>
        </p:spPr>
        <p:txBody>
          <a:bodyPr wrap="square" rtlCol="0">
            <a:spAutoFit/>
          </a:bodyPr>
          <a:lstStyle/>
          <a:p>
            <a:pPr algn="ctr"/>
            <a:r>
              <a:rPr lang="en-US" sz="4750" dirty="0"/>
              <a:t>Acknowledgements</a:t>
            </a:r>
          </a:p>
        </p:txBody>
      </p:sp>
      <p:sp>
        <p:nvSpPr>
          <p:cNvPr id="30" name="TextBox 29"/>
          <p:cNvSpPr txBox="1"/>
          <p:nvPr/>
        </p:nvSpPr>
        <p:spPr>
          <a:xfrm>
            <a:off x="12929735" y="32450258"/>
            <a:ext cx="10057585" cy="823302"/>
          </a:xfrm>
          <a:prstGeom prst="rect">
            <a:avLst/>
          </a:prstGeom>
          <a:noFill/>
          <a:ln>
            <a:solidFill>
              <a:schemeClr val="tx1"/>
            </a:solidFill>
          </a:ln>
        </p:spPr>
        <p:txBody>
          <a:bodyPr wrap="square" rtlCol="0">
            <a:spAutoFit/>
          </a:bodyPr>
          <a:lstStyle/>
          <a:p>
            <a:pPr algn="ctr"/>
            <a:r>
              <a:rPr lang="en-US" sz="4750" dirty="0"/>
              <a:t>Conclusions</a:t>
            </a:r>
          </a:p>
        </p:txBody>
      </p:sp>
      <p:sp>
        <p:nvSpPr>
          <p:cNvPr id="31" name="TextBox 30"/>
          <p:cNvSpPr txBox="1"/>
          <p:nvPr/>
        </p:nvSpPr>
        <p:spPr>
          <a:xfrm>
            <a:off x="13376936" y="20852544"/>
            <a:ext cx="9720072" cy="2492990"/>
          </a:xfrm>
          <a:prstGeom prst="rect">
            <a:avLst/>
          </a:prstGeom>
          <a:noFill/>
        </p:spPr>
        <p:txBody>
          <a:bodyPr wrap="square" rtlCol="0">
            <a:spAutoFit/>
          </a:bodyPr>
          <a:lstStyle/>
          <a:p>
            <a:pPr algn="just"/>
            <a:r>
              <a:rPr lang="en-US" sz="2600" dirty="0"/>
              <a:t>Fig 4: </a:t>
            </a:r>
            <a:r>
              <a:rPr lang="en-US" sz="2600" dirty="0" err="1"/>
              <a:t>Barchart</a:t>
            </a:r>
            <a:r>
              <a:rPr lang="en-US" sz="2600" dirty="0"/>
              <a:t> showing the percent variance contribution of each of the measured traits to Dimension (Principal Component) 1. Dimension 1 in this dataset accounts for 22% of the variability in the data. The days to silk and pollination, along with the average kernel weight are extremely important in explaining the data while the year and number of tassels is not as important.</a:t>
            </a:r>
          </a:p>
        </p:txBody>
      </p:sp>
      <p:sp>
        <p:nvSpPr>
          <p:cNvPr id="32" name="TextBox 31"/>
          <p:cNvSpPr txBox="1"/>
          <p:nvPr/>
        </p:nvSpPr>
        <p:spPr>
          <a:xfrm>
            <a:off x="24003814" y="20851560"/>
            <a:ext cx="9720072" cy="2492990"/>
          </a:xfrm>
          <a:prstGeom prst="rect">
            <a:avLst/>
          </a:prstGeom>
          <a:noFill/>
        </p:spPr>
        <p:txBody>
          <a:bodyPr wrap="square" rtlCol="0">
            <a:spAutoFit/>
          </a:bodyPr>
          <a:lstStyle/>
          <a:p>
            <a:pPr algn="just"/>
            <a:r>
              <a:rPr lang="en-US" sz="2600" dirty="0"/>
              <a:t>Fig 5: </a:t>
            </a:r>
            <a:r>
              <a:rPr lang="en-US" sz="2600" dirty="0" err="1"/>
              <a:t>Barchart</a:t>
            </a:r>
            <a:r>
              <a:rPr lang="en-US" sz="2600" dirty="0"/>
              <a:t> showing the percent variance contribution of each of the measured traits to Dimensions (Principal Component) 1 through 5. Dimensions </a:t>
            </a:r>
            <a:r>
              <a:rPr lang="en-US" sz="2600" dirty="0"/>
              <a:t> 1-5 account for 67% of the variance. The field family, block, and the days to silk and pollen shed are the most important in explaining the data, while the leaf length and number of tassels are not as important.</a:t>
            </a:r>
          </a:p>
        </p:txBody>
      </p:sp>
      <p:pic>
        <p:nvPicPr>
          <p:cNvPr id="33" name="Picture 32"/>
          <p:cNvPicPr>
            <a:picLocks/>
          </p:cNvPicPr>
          <p:nvPr/>
        </p:nvPicPr>
        <p:blipFill>
          <a:blip r:embed="rId11">
            <a:extLst>
              <a:ext uri="{28A0092B-C50C-407E-A947-70E740481C1C}">
                <a14:useLocalDpi xmlns:a14="http://schemas.microsoft.com/office/drawing/2010/main" val="0"/>
              </a:ext>
            </a:extLst>
          </a:blip>
          <a:stretch>
            <a:fillRect/>
          </a:stretch>
        </p:blipFill>
        <p:spPr>
          <a:xfrm>
            <a:off x="24003814" y="15120959"/>
            <a:ext cx="9720072" cy="5541264"/>
          </a:xfrm>
          <a:prstGeom prst="rect">
            <a:avLst/>
          </a:prstGeom>
        </p:spPr>
      </p:pic>
      <p:sp>
        <p:nvSpPr>
          <p:cNvPr id="34" name="TextBox 33"/>
          <p:cNvSpPr txBox="1"/>
          <p:nvPr/>
        </p:nvSpPr>
        <p:spPr>
          <a:xfrm>
            <a:off x="13267248" y="29245480"/>
            <a:ext cx="9720072" cy="2492990"/>
          </a:xfrm>
          <a:prstGeom prst="rect">
            <a:avLst/>
          </a:prstGeom>
          <a:noFill/>
        </p:spPr>
        <p:txBody>
          <a:bodyPr wrap="square" rtlCol="0">
            <a:spAutoFit/>
          </a:bodyPr>
          <a:lstStyle/>
          <a:p>
            <a:pPr algn="just"/>
            <a:r>
              <a:rPr lang="en-US" sz="2600" dirty="0"/>
              <a:t>Fig 5: A factor map showing the relative importance (see heatmap) of each individual in the first two dimensions of the PCA. Theoretically, all 16 dimensions on our PCA can be plotted in a infinite-dimensional space (Hilbert Space) but, interpretation would be difficult. In this map, no true clustering is observed, potentially due to this data being collected on DH plants.</a:t>
            </a:r>
          </a:p>
        </p:txBody>
      </p:sp>
      <p:sp>
        <p:nvSpPr>
          <p:cNvPr id="35" name="TextBox 34"/>
          <p:cNvSpPr txBox="1"/>
          <p:nvPr/>
        </p:nvSpPr>
        <p:spPr>
          <a:xfrm>
            <a:off x="24003814" y="29245480"/>
            <a:ext cx="9720072" cy="2893100"/>
          </a:xfrm>
          <a:prstGeom prst="rect">
            <a:avLst/>
          </a:prstGeom>
          <a:noFill/>
        </p:spPr>
        <p:txBody>
          <a:bodyPr wrap="square" rtlCol="0">
            <a:spAutoFit/>
          </a:bodyPr>
          <a:lstStyle/>
          <a:p>
            <a:pPr algn="just"/>
            <a:r>
              <a:rPr lang="en-US" sz="2600" dirty="0"/>
              <a:t>Fig 6: A biplot displaying our traits and individuals and the relative contribution (see heatmap) of our traits in explaining the total variance in our dataset. This biplot shows the relationships between all our variables, where positively correlated variables are grouped together, negatively correlated variables opposite sides of the plot origin, and the distance between variables measures their quality in the first two dimensions of the PCA. </a:t>
            </a:r>
          </a:p>
        </p:txBody>
      </p:sp>
      <p:sp>
        <p:nvSpPr>
          <p:cNvPr id="36" name="TextBox 35"/>
          <p:cNvSpPr txBox="1"/>
          <p:nvPr/>
        </p:nvSpPr>
        <p:spPr>
          <a:xfrm>
            <a:off x="12929735" y="33568141"/>
            <a:ext cx="10057585" cy="7779053"/>
          </a:xfrm>
          <a:prstGeom prst="rect">
            <a:avLst/>
          </a:prstGeom>
          <a:noFill/>
        </p:spPr>
        <p:txBody>
          <a:bodyPr wrap="square" rtlCol="0">
            <a:spAutoFit/>
          </a:bodyPr>
          <a:lstStyle/>
          <a:p>
            <a:pPr marL="457200" indent="-457200" algn="just">
              <a:buFont typeface="Arial" panose="020B0604020202020204" pitchFamily="34" charset="0"/>
              <a:buChar char="•"/>
            </a:pPr>
            <a:r>
              <a:rPr lang="en-US" sz="3330" dirty="0"/>
              <a:t>Biplots showed that days to silk and pollen emergence, average kernel weight, field family, and block were the most important in explaining our data</a:t>
            </a:r>
          </a:p>
          <a:p>
            <a:pPr marL="457200" indent="-457200" algn="just">
              <a:buFont typeface="Arial" panose="020B0604020202020204" pitchFamily="34" charset="0"/>
              <a:buChar char="•"/>
            </a:pPr>
            <a:r>
              <a:rPr lang="en-US" sz="3330" dirty="0"/>
              <a:t>Reduction of our dataset to these few traits for future analyses would be worthwhile to explaining patterns in our DH population as a whole</a:t>
            </a:r>
          </a:p>
          <a:p>
            <a:pPr marL="457200" indent="-457200" algn="just">
              <a:buFont typeface="Arial" panose="020B0604020202020204" pitchFamily="34" charset="0"/>
              <a:buChar char="•"/>
            </a:pPr>
            <a:r>
              <a:rPr lang="en-US" sz="3330" dirty="0"/>
              <a:t>Explaining individual lineages, however, and their heritable changes in advanced </a:t>
            </a:r>
            <a:r>
              <a:rPr lang="en-US" sz="3330" dirty="0" err="1"/>
              <a:t>selfing</a:t>
            </a:r>
            <a:r>
              <a:rPr lang="en-US" sz="3330" dirty="0"/>
              <a:t> generations might not stand out in PCA or other multivariate analyses. </a:t>
            </a:r>
          </a:p>
          <a:p>
            <a:pPr marL="457200" indent="-457200" algn="just">
              <a:buFont typeface="Arial" panose="020B0604020202020204" pitchFamily="34" charset="0"/>
              <a:buChar char="•"/>
            </a:pPr>
            <a:r>
              <a:rPr lang="en-US" sz="3330" dirty="0"/>
              <a:t>No clustering of individuals within traits is observed in Fig 5 &amp; 6, suggesting that our DH data may be too similar to find any large differences </a:t>
            </a:r>
          </a:p>
          <a:p>
            <a:pPr marL="457200" indent="-457200">
              <a:buFont typeface="Arial" panose="020B0604020202020204" pitchFamily="34" charset="0"/>
              <a:buChar char="•"/>
            </a:pPr>
            <a:endParaRPr lang="en-US" sz="3330" dirty="0"/>
          </a:p>
          <a:p>
            <a:pPr marL="457200" indent="-457200">
              <a:buFont typeface="Arial" panose="020B0604020202020204" pitchFamily="34" charset="0"/>
              <a:buChar char="•"/>
            </a:pPr>
            <a:endParaRPr lang="en-US" sz="3330" dirty="0"/>
          </a:p>
        </p:txBody>
      </p:sp>
      <p:sp>
        <p:nvSpPr>
          <p:cNvPr id="37" name="TextBox 36"/>
          <p:cNvSpPr txBox="1"/>
          <p:nvPr/>
        </p:nvSpPr>
        <p:spPr>
          <a:xfrm>
            <a:off x="24003815" y="33568141"/>
            <a:ext cx="10057586" cy="3167021"/>
          </a:xfrm>
          <a:prstGeom prst="rect">
            <a:avLst/>
          </a:prstGeom>
          <a:noFill/>
        </p:spPr>
        <p:txBody>
          <a:bodyPr wrap="square" rtlCol="0">
            <a:spAutoFit/>
          </a:bodyPr>
          <a:lstStyle/>
          <a:p>
            <a:pPr marL="457200" indent="-457200">
              <a:buFont typeface="Arial" panose="020B0604020202020204" pitchFamily="34" charset="0"/>
              <a:buChar char="•"/>
            </a:pPr>
            <a:r>
              <a:rPr lang="en-US" sz="3330" dirty="0"/>
              <a:t>Perform </a:t>
            </a:r>
            <a:r>
              <a:rPr lang="en-US" sz="3330" dirty="0" err="1"/>
              <a:t>RNAseq</a:t>
            </a:r>
            <a:r>
              <a:rPr lang="en-US" sz="3330" dirty="0"/>
              <a:t> on lineages that show significant, heritable changes in quantitative traits to determine potential epigenetic influence on DH genomes</a:t>
            </a:r>
          </a:p>
          <a:p>
            <a:pPr marL="457200" indent="-457200">
              <a:buFont typeface="Arial" panose="020B0604020202020204" pitchFamily="34" charset="0"/>
              <a:buChar char="•"/>
            </a:pPr>
            <a:r>
              <a:rPr lang="en-US" sz="3330" dirty="0"/>
              <a:t>Do PCA on partial study replicates from 2015 and 2016 </a:t>
            </a:r>
          </a:p>
          <a:p>
            <a:pPr marL="457200" indent="-457200">
              <a:buFont typeface="Arial" panose="020B0604020202020204" pitchFamily="34" charset="0"/>
              <a:buChar char="•"/>
            </a:pPr>
            <a:r>
              <a:rPr lang="en-US" sz="3330" dirty="0"/>
              <a:t>Look into cluster analysis of our traits and lineages</a:t>
            </a:r>
          </a:p>
          <a:p>
            <a:pPr marL="457200" indent="-457200">
              <a:buFont typeface="Arial" panose="020B0604020202020204" pitchFamily="34" charset="0"/>
              <a:buChar char="•"/>
            </a:pPr>
            <a:endParaRPr lang="en-US" sz="3330" dirty="0"/>
          </a:p>
        </p:txBody>
      </p:sp>
      <p:pic>
        <p:nvPicPr>
          <p:cNvPr id="38" name="Picture 37"/>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4003814" y="39027846"/>
            <a:ext cx="3780467" cy="1954527"/>
          </a:xfrm>
          <a:prstGeom prst="rect">
            <a:avLst/>
          </a:prstGeom>
        </p:spPr>
      </p:pic>
      <p:sp>
        <p:nvSpPr>
          <p:cNvPr id="39" name="TextBox 38"/>
          <p:cNvSpPr txBox="1"/>
          <p:nvPr/>
        </p:nvSpPr>
        <p:spPr>
          <a:xfrm>
            <a:off x="27988759" y="37909152"/>
            <a:ext cx="6071564" cy="4191917"/>
          </a:xfrm>
          <a:prstGeom prst="rect">
            <a:avLst/>
          </a:prstGeom>
          <a:noFill/>
        </p:spPr>
        <p:txBody>
          <a:bodyPr wrap="square" rtlCol="0">
            <a:spAutoFit/>
          </a:bodyPr>
          <a:lstStyle/>
          <a:p>
            <a:pPr algn="just"/>
            <a:r>
              <a:rPr lang="en-US" sz="3330" dirty="0"/>
              <a:t>Doubled-haploid plants were produced by Akio Kato and provided by Jim </a:t>
            </a:r>
            <a:r>
              <a:rPr lang="en-US" sz="3330" dirty="0" err="1"/>
              <a:t>Birchler</a:t>
            </a:r>
            <a:r>
              <a:rPr lang="en-US" sz="3330" dirty="0"/>
              <a:t> (University of Missouri) </a:t>
            </a:r>
          </a:p>
          <a:p>
            <a:pPr algn="just"/>
            <a:endParaRPr lang="en-US" sz="3330" dirty="0"/>
          </a:p>
          <a:p>
            <a:pPr algn="just"/>
            <a:r>
              <a:rPr lang="en-US" sz="3330" dirty="0"/>
              <a:t>This research was funded by the SDSU Agriculture Experiment Station</a:t>
            </a:r>
          </a:p>
        </p:txBody>
      </p:sp>
    </p:spTree>
    <p:extLst>
      <p:ext uri="{BB962C8B-B14F-4D97-AF65-F5344CB8AC3E}">
        <p14:creationId xmlns:p14="http://schemas.microsoft.com/office/powerpoint/2010/main" val="185693771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1036</TotalTime>
  <Words>1010</Words>
  <Application>Microsoft Office PowerPoint</Application>
  <PresentationFormat>Custom</PresentationFormat>
  <Paragraphs>45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Merritt</dc:creator>
  <cp:lastModifiedBy>Merritt</cp:lastModifiedBy>
  <cp:revision>10</cp:revision>
  <dcterms:created xsi:type="dcterms:W3CDTF">2016-10-26T19:52:51Z</dcterms:created>
  <dcterms:modified xsi:type="dcterms:W3CDTF">2016-10-31T21:25:41Z</dcterms:modified>
</cp:coreProperties>
</file>