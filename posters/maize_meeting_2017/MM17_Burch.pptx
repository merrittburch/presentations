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6576000" cy="3200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9DE"/>
    <a:srgbClr val="D5F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46" autoAdjust="0"/>
    <p:restoredTop sz="94660"/>
  </p:normalViewPr>
  <p:slideViewPr>
    <p:cSldViewPr snapToGrid="0">
      <p:cViewPr varScale="1">
        <p:scale>
          <a:sx n="19" d="100"/>
          <a:sy n="19" d="100"/>
        </p:scale>
        <p:origin x="218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237694"/>
            <a:ext cx="31089600" cy="11142133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6809511"/>
            <a:ext cx="27432000" cy="7726889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8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1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7978784"/>
            <a:ext cx="31546800" cy="13312773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1417501"/>
            <a:ext cx="31546800" cy="7000873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8519583"/>
            <a:ext cx="15544800" cy="203062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8519583"/>
            <a:ext cx="15544800" cy="203062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3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703924"/>
            <a:ext cx="31546800" cy="6185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7845427"/>
            <a:ext cx="15473360" cy="3844923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1690350"/>
            <a:ext cx="15473360" cy="171947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7845427"/>
            <a:ext cx="15549564" cy="3844923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1690350"/>
            <a:ext cx="15549564" cy="171947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8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8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2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33600"/>
            <a:ext cx="11796712" cy="74676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4607991"/>
            <a:ext cx="18516600" cy="2274358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601200"/>
            <a:ext cx="11796712" cy="17787411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5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33600"/>
            <a:ext cx="11796712" cy="74676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4607991"/>
            <a:ext cx="18516600" cy="2274358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601200"/>
            <a:ext cx="11796712" cy="17787411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3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3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703917"/>
            <a:ext cx="7886700" cy="271219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703917"/>
            <a:ext cx="23202900" cy="271219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703924"/>
            <a:ext cx="31546800" cy="6185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8519583"/>
            <a:ext cx="31546800" cy="2030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9662974"/>
            <a:ext cx="82296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0218C-1867-4E07-8921-67D95CE78DF8}" type="datetimeFigureOut">
              <a:rPr lang="en-US" smtClean="0"/>
              <a:t>5/30/2017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9662974"/>
            <a:ext cx="123444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9662974"/>
            <a:ext cx="82296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5F9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769266" y="455605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Materials and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134" y="860374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Introduction &amp;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13266" y="21137289"/>
            <a:ext cx="8229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32672" y="28299826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Acknowledgements &amp;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69266" y="21137289"/>
            <a:ext cx="8229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Conclusions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2145" y="29384601"/>
            <a:ext cx="3780467" cy="195452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3" y="25938713"/>
            <a:ext cx="8242620" cy="5538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94" y="19925806"/>
            <a:ext cx="8042299" cy="5520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677" y="19930755"/>
            <a:ext cx="8001057" cy="55206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3134" y="9507108"/>
            <a:ext cx="17373600" cy="978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Windborne contamination of organic maize varieties by genetically modified pollen can decrease profits  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Currently, farmers place barrier crops, separate fields, or displace planting times to prevent cross contamination 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An easier alternative would be to </a:t>
            </a:r>
            <a:r>
              <a:rPr lang="en-US" sz="3500" dirty="0" err="1"/>
              <a:t>introgress</a:t>
            </a:r>
            <a:r>
              <a:rPr lang="en-US" sz="3500" dirty="0"/>
              <a:t> one of three gametophyte cross incompatibility (CI) systems</a:t>
            </a:r>
            <a:r>
              <a:rPr lang="en-US" sz="3500" i="1" dirty="0"/>
              <a:t>:</a:t>
            </a:r>
            <a:r>
              <a:rPr lang="en-US" sz="3500" dirty="0"/>
              <a:t> </a:t>
            </a:r>
            <a:r>
              <a:rPr lang="en-US" sz="3500" i="1" dirty="0"/>
              <a:t>Gametophyte factor 1 (Ga1), Gametophyte factor 2 (Ga2), </a:t>
            </a:r>
            <a:r>
              <a:rPr lang="en-US" sz="3500" dirty="0"/>
              <a:t>or </a:t>
            </a:r>
            <a:r>
              <a:rPr lang="en-US" sz="3500" i="1" dirty="0"/>
              <a:t>Teosinte crossing barrier 1 (Tcb1)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Three CI alleles are known: strong allele (-s), male allele (-m), and </a:t>
            </a:r>
            <a:r>
              <a:rPr lang="en-US" sz="3500" i="1" dirty="0"/>
              <a:t>a </a:t>
            </a:r>
            <a:r>
              <a:rPr lang="en-US" sz="3500" dirty="0"/>
              <a:t>null allele </a:t>
            </a:r>
            <a:r>
              <a:rPr lang="en-US" sz="3500" b="1" dirty="0"/>
              <a:t>(Fig 1)</a:t>
            </a:r>
            <a:endParaRPr lang="en-US" sz="3500" dirty="0"/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Traditionally found in teosintes (</a:t>
            </a:r>
            <a:r>
              <a:rPr lang="en-US" sz="3500" i="1" dirty="0" err="1"/>
              <a:t>Zea</a:t>
            </a:r>
            <a:r>
              <a:rPr lang="en-US" sz="3500" i="1" dirty="0"/>
              <a:t> mays spp. </a:t>
            </a:r>
            <a:r>
              <a:rPr lang="en-US" sz="3500" i="1" dirty="0" err="1"/>
              <a:t>mexicana</a:t>
            </a:r>
            <a:r>
              <a:rPr lang="en-US" sz="3500" i="1" dirty="0"/>
              <a:t>), Tcb1</a:t>
            </a:r>
            <a:r>
              <a:rPr lang="en-US" sz="3500" dirty="0"/>
              <a:t> is responsible for protecting silks from pollination by incompatible alleles (</a:t>
            </a:r>
            <a:r>
              <a:rPr lang="en-US" sz="3500" i="1" dirty="0"/>
              <a:t>tcb1</a:t>
            </a:r>
            <a:r>
              <a:rPr lang="en-US" sz="3500" dirty="0"/>
              <a:t>)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F1’s of many maize </a:t>
            </a:r>
            <a:r>
              <a:rPr lang="en-US" sz="3500" dirty="0" err="1"/>
              <a:t>inbreds</a:t>
            </a:r>
            <a:r>
              <a:rPr lang="en-US" sz="3500" dirty="0"/>
              <a:t> (e.g. B73) x W22 </a:t>
            </a:r>
            <a:r>
              <a:rPr lang="en-US" sz="3500" i="1" dirty="0"/>
              <a:t>Tcb1-s </a:t>
            </a:r>
            <a:r>
              <a:rPr lang="en-US" sz="3500" dirty="0"/>
              <a:t>show high incompatibility with </a:t>
            </a:r>
            <a:r>
              <a:rPr lang="en-US" sz="3500" i="1" dirty="0"/>
              <a:t>tcb1</a:t>
            </a:r>
            <a:r>
              <a:rPr lang="en-US" sz="3500" dirty="0"/>
              <a:t>, Mo17 x W22 </a:t>
            </a:r>
            <a:r>
              <a:rPr lang="en-US" sz="3500" i="1" dirty="0"/>
              <a:t>Tcb1-s </a:t>
            </a:r>
            <a:r>
              <a:rPr lang="en-US" sz="3500" dirty="0"/>
              <a:t>shows a weakened incompatibility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493" y="23340958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19581" y="7296110"/>
            <a:ext cx="582328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2: Pollination of IBM </a:t>
            </a:r>
            <a:r>
              <a:rPr lang="en-US" sz="3500" i="1" dirty="0"/>
              <a:t>Tcb1-s</a:t>
            </a:r>
            <a:r>
              <a:rPr lang="en-US" sz="3500" dirty="0"/>
              <a:t> silks with colored </a:t>
            </a:r>
            <a:r>
              <a:rPr lang="en-US" sz="3500" i="1" dirty="0"/>
              <a:t>R1-scm2 tcb1</a:t>
            </a:r>
            <a:r>
              <a:rPr lang="en-US" sz="3500" dirty="0"/>
              <a:t> pollen on day one (to test IBM x W22 </a:t>
            </a:r>
            <a:r>
              <a:rPr lang="en-US" sz="3500" i="1" dirty="0"/>
              <a:t>Tcb1 </a:t>
            </a:r>
            <a:r>
              <a:rPr lang="en-US" sz="3500" dirty="0"/>
              <a:t>efficiency) and self-pollination with colorless </a:t>
            </a:r>
            <a:r>
              <a:rPr lang="en-US" sz="3500" i="1" dirty="0"/>
              <a:t>Tcb1-s</a:t>
            </a:r>
            <a:r>
              <a:rPr lang="en-US" sz="3500" dirty="0"/>
              <a:t> on day two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334825" y="12102141"/>
            <a:ext cx="1975108" cy="48920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703698" y="13120670"/>
            <a:ext cx="64391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3: Predicted ear phenotypes of Fig 2 crosses</a:t>
            </a:r>
            <a:r>
              <a:rPr lang="en-US" sz="3500" i="1" dirty="0"/>
              <a:t>. </a:t>
            </a:r>
            <a:r>
              <a:rPr lang="en-US" sz="3500" b="1" dirty="0"/>
              <a:t>A: </a:t>
            </a:r>
            <a:r>
              <a:rPr lang="en-US" sz="3500" dirty="0"/>
              <a:t>Strong effect of IBM x W22 </a:t>
            </a:r>
            <a:r>
              <a:rPr lang="en-US" sz="3500" i="1" dirty="0"/>
              <a:t>Tcb1-s</a:t>
            </a:r>
            <a:r>
              <a:rPr lang="en-US" sz="3500" dirty="0"/>
              <a:t> silks at rejecting colored </a:t>
            </a:r>
            <a:r>
              <a:rPr lang="en-US" sz="3500" i="1" dirty="0"/>
              <a:t>tcb1 </a:t>
            </a:r>
            <a:r>
              <a:rPr lang="en-US" sz="3500" dirty="0"/>
              <a:t>pollen. </a:t>
            </a:r>
            <a:r>
              <a:rPr lang="en-US" sz="3500" b="1" dirty="0"/>
              <a:t>B: </a:t>
            </a:r>
            <a:r>
              <a:rPr lang="en-US" sz="3500" dirty="0"/>
              <a:t>Weak effect of IBM x W22 </a:t>
            </a:r>
            <a:r>
              <a:rPr lang="en-US" sz="3500" i="1" dirty="0"/>
              <a:t>Tcb1-s</a:t>
            </a:r>
            <a:r>
              <a:rPr lang="en-US" sz="3500" dirty="0"/>
              <a:t> silks at rejecting colored </a:t>
            </a:r>
            <a:r>
              <a:rPr lang="en-US" sz="3500" i="1" dirty="0"/>
              <a:t>tcb1 </a:t>
            </a:r>
            <a:r>
              <a:rPr lang="en-US" sz="3500" dirty="0"/>
              <a:t>pollen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69266" y="16731676"/>
            <a:ext cx="16459200" cy="4048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Preform experiment in summer 2017 in Brookings, South Dakota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Control crosses with </a:t>
            </a:r>
            <a:r>
              <a:rPr lang="en-US" sz="3500" i="1" dirty="0"/>
              <a:t>R1-scm2 tcb1</a:t>
            </a:r>
            <a:r>
              <a:rPr lang="en-US" sz="3500" dirty="0"/>
              <a:t> pollen and colorless self </a:t>
            </a:r>
            <a:r>
              <a:rPr lang="en-US" sz="3500" i="1" dirty="0"/>
              <a:t>Tcb1-s </a:t>
            </a:r>
            <a:r>
              <a:rPr lang="en-US" sz="3500" dirty="0"/>
              <a:t>pollen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After harvest, shell and count kernels for the degree of </a:t>
            </a:r>
            <a:r>
              <a:rPr lang="en-US" sz="3500" i="1" dirty="0"/>
              <a:t>tcb1 </a:t>
            </a:r>
            <a:r>
              <a:rPr lang="en-US" sz="3500" dirty="0"/>
              <a:t>contamination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Gathered data with the extensively mapped IBM population will be used in a QTL analysis to determine if modifiers or alternative alleles of the </a:t>
            </a:r>
            <a:r>
              <a:rPr lang="en-US" sz="3500" i="1" dirty="0"/>
              <a:t>Tcb1</a:t>
            </a:r>
            <a:r>
              <a:rPr lang="en-US" sz="3500" dirty="0"/>
              <a:t> locus are present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128751" y="841188"/>
            <a:ext cx="32318500" cy="3291840"/>
            <a:chOff x="2383123" y="865242"/>
            <a:chExt cx="32318500" cy="3291840"/>
          </a:xfrm>
        </p:grpSpPr>
        <p:grpSp>
          <p:nvGrpSpPr>
            <p:cNvPr id="22" name="Group 21"/>
            <p:cNvGrpSpPr/>
            <p:nvPr/>
          </p:nvGrpSpPr>
          <p:grpSpPr>
            <a:xfrm>
              <a:off x="8729805" y="1108616"/>
              <a:ext cx="19490977" cy="2805093"/>
              <a:chOff x="8248543" y="526773"/>
              <a:chExt cx="19490977" cy="2805093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8614123" y="526773"/>
                <a:ext cx="18759816" cy="1261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600" dirty="0"/>
                  <a:t>THE HUNT FOR MODIFIERS OF THE </a:t>
                </a:r>
                <a:r>
                  <a:rPr lang="en-US" sz="7600" i="1" dirty="0"/>
                  <a:t>Tcb1 </a:t>
                </a:r>
                <a:r>
                  <a:rPr lang="en-US" sz="7600" dirty="0"/>
                  <a:t>LOCUS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4049426" y="1822543"/>
                <a:ext cx="7889211" cy="750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275" dirty="0"/>
                  <a:t>Merritt B. Burch and Donald Auger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8248543" y="2654758"/>
                <a:ext cx="19490977" cy="677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dirty="0"/>
                  <a:t>Department of Biology and Microbiology, South Dakota State University, Brookings SD 57006, USA</a:t>
                </a: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84147" y="961494"/>
              <a:ext cx="2817476" cy="1878317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3123" y="865242"/>
              <a:ext cx="1617352" cy="3291840"/>
            </a:xfrm>
            <a:prstGeom prst="rect">
              <a:avLst/>
            </a:prstGeom>
          </p:spPr>
        </p:pic>
      </p:grpSp>
      <p:sp>
        <p:nvSpPr>
          <p:cNvPr id="33" name="Rectangle 32"/>
          <p:cNvSpPr/>
          <p:nvPr/>
        </p:nvSpPr>
        <p:spPr>
          <a:xfrm>
            <a:off x="23966906" y="29307454"/>
            <a:ext cx="12439366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6" indent="-457206">
              <a:lnSpc>
                <a:spcPct val="107000"/>
              </a:lnSpc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Evans, M. M. S., &amp; </a:t>
            </a:r>
            <a:r>
              <a:rPr lang="en-US" sz="2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 (2001). Teosinte crossing barrier1 , a locus governing hybridization of teosinte with maize. </a:t>
            </a:r>
            <a:r>
              <a:rPr lang="en-US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Theoretical and Applied Genetics, 103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(2-3), 259-265. doi:10.1007/s001220100549</a:t>
            </a:r>
          </a:p>
          <a:p>
            <a:pPr marL="457206" indent="-457206">
              <a:lnSpc>
                <a:spcPct val="107000"/>
              </a:lnSpc>
            </a:pPr>
            <a:r>
              <a:rPr lang="en-US" sz="2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Allen, J. P. (1990). Cross-incompatibility between maize and teosinte. </a:t>
            </a:r>
            <a:r>
              <a:rPr lang="en-US" sz="2000" i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Maydica</a:t>
            </a:r>
            <a:r>
              <a:rPr lang="en-US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, 35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(4), 399-408. </a:t>
            </a:r>
          </a:p>
          <a:p>
            <a:pPr marL="457206" indent="-457206">
              <a:lnSpc>
                <a:spcPct val="107000"/>
              </a:lnSpc>
            </a:pPr>
            <a:r>
              <a:rPr lang="en-US" sz="2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Evans, M. M. S. (2005). Pollen–pistil barriers to crossing in maize and teosinte result from incongruity rather than active rejection. </a:t>
            </a:r>
            <a:r>
              <a:rPr lang="en-US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Sexual Plant Reproduction, 18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(4), 187-194. doi:10.1007/s00497-005-0012-2</a:t>
            </a:r>
          </a:p>
          <a:p>
            <a:pPr marL="457206" indent="-457206">
              <a:lnSpc>
                <a:spcPct val="107000"/>
              </a:lnSpc>
            </a:pP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Lu, Y., </a:t>
            </a:r>
            <a:r>
              <a:rPr lang="en-US" sz="2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Evans, M. M. (2014). Genetic and cellular analysis of cross-incompatibility in </a:t>
            </a:r>
            <a:r>
              <a:rPr lang="en-US" sz="20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Zea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mays. </a:t>
            </a:r>
            <a:r>
              <a:rPr lang="en-US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Plant Reproduction, 27</a:t>
            </a:r>
            <a:r>
              <a:rPr lang="en-US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(1), 19-29. doi:10.1007/s00497-013-0236-5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66410" y="22047858"/>
            <a:ext cx="8176456" cy="5747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Perform field experiment this summer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Identify regions of maize genome responsible for </a:t>
            </a:r>
            <a:r>
              <a:rPr lang="en-US" sz="3500" i="1" dirty="0"/>
              <a:t>Tcb1 </a:t>
            </a:r>
            <a:r>
              <a:rPr lang="en-US" sz="3500" dirty="0"/>
              <a:t>activity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Isolate and sequence candidate genes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Visualize pollen tube growth in compatible and incompatible silks, measure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66119" y="22041362"/>
            <a:ext cx="823274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We hope to find QTL that identify modifiers or alternative </a:t>
            </a:r>
            <a:r>
              <a:rPr lang="en-US" sz="3500" i="1" dirty="0"/>
              <a:t>Tcb1</a:t>
            </a:r>
            <a:r>
              <a:rPr lang="en-US" sz="3500" dirty="0"/>
              <a:t> alleles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Results could shed light on the </a:t>
            </a:r>
            <a:r>
              <a:rPr lang="en-US" sz="3500" i="1" dirty="0"/>
              <a:t>Tcb1</a:t>
            </a:r>
            <a:r>
              <a:rPr lang="en-US" sz="3500" dirty="0"/>
              <a:t> incompatibility system and give new meaning to the evolutionary speciation of maize from teosinte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748497" y="12193948"/>
            <a:ext cx="1975108" cy="48920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33134" y="455605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Objectives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6354" y="5720684"/>
            <a:ext cx="11429824" cy="701344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433134" y="5539372"/>
            <a:ext cx="17373600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prstClr val="black"/>
                </a:solidFill>
              </a:rPr>
              <a:t>Find QTL from </a:t>
            </a:r>
            <a:r>
              <a:rPr lang="en-US" sz="3500" i="1" dirty="0">
                <a:solidFill>
                  <a:prstClr val="black"/>
                </a:solidFill>
              </a:rPr>
              <a:t>Tcb1 </a:t>
            </a:r>
            <a:r>
              <a:rPr lang="en-US" sz="3500" dirty="0">
                <a:solidFill>
                  <a:prstClr val="black"/>
                </a:solidFill>
              </a:rPr>
              <a:t>modifying loci or alternative alleles of the </a:t>
            </a:r>
            <a:r>
              <a:rPr lang="en-US" sz="3500" i="1" dirty="0">
                <a:solidFill>
                  <a:prstClr val="black"/>
                </a:solidFill>
              </a:rPr>
              <a:t>Tcb1 </a:t>
            </a:r>
            <a:r>
              <a:rPr lang="en-US" sz="3500" dirty="0">
                <a:solidFill>
                  <a:prstClr val="black"/>
                </a:solidFill>
              </a:rPr>
              <a:t> locus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prstClr val="black"/>
                </a:solidFill>
              </a:rPr>
              <a:t>From discovered QTL regions identify and isolate candidate genes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prstClr val="black"/>
                </a:solidFill>
              </a:rPr>
              <a:t>Determine the molecular mechanism is for </a:t>
            </a:r>
            <a:r>
              <a:rPr lang="en-US" sz="3500" i="1" dirty="0">
                <a:solidFill>
                  <a:prstClr val="black"/>
                </a:solidFill>
              </a:rPr>
              <a:t>Tcb1</a:t>
            </a:r>
            <a:r>
              <a:rPr lang="en-US" sz="3500" dirty="0">
                <a:solidFill>
                  <a:prstClr val="black"/>
                </a:solidFill>
              </a:rPr>
              <a:t> cross incompatibility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68543" y="26560472"/>
            <a:ext cx="8238191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1: </a:t>
            </a:r>
            <a:r>
              <a:rPr lang="en-US" sz="3500" i="1" dirty="0"/>
              <a:t>Teosinte crossing barrier 1 (Tcb1) </a:t>
            </a:r>
            <a:r>
              <a:rPr lang="en-US" sz="3500" dirty="0"/>
              <a:t>cross incompatibility system. </a:t>
            </a:r>
            <a:r>
              <a:rPr lang="en-US" sz="3500" b="1" dirty="0"/>
              <a:t>A: </a:t>
            </a:r>
            <a:r>
              <a:rPr lang="en-US" sz="3500" dirty="0"/>
              <a:t>Unsuccessful pollination between </a:t>
            </a:r>
            <a:r>
              <a:rPr lang="en-US" sz="3500" i="1" dirty="0"/>
              <a:t>Tcb1-s</a:t>
            </a:r>
            <a:r>
              <a:rPr lang="en-US" sz="3500" dirty="0"/>
              <a:t> silks and </a:t>
            </a:r>
            <a:r>
              <a:rPr lang="en-US" sz="3500" i="1" dirty="0"/>
              <a:t>tcb1 </a:t>
            </a:r>
            <a:r>
              <a:rPr lang="en-US" sz="3500" dirty="0"/>
              <a:t>pollen. </a:t>
            </a:r>
            <a:r>
              <a:rPr lang="en-US" sz="3500" b="1" dirty="0"/>
              <a:t>B: </a:t>
            </a:r>
            <a:r>
              <a:rPr lang="en-US" sz="3500" dirty="0"/>
              <a:t>Successful pollination between </a:t>
            </a:r>
            <a:r>
              <a:rPr lang="en-US" sz="3500" i="1" dirty="0"/>
              <a:t>Tcb1-s</a:t>
            </a:r>
            <a:r>
              <a:rPr lang="en-US" sz="3500" dirty="0"/>
              <a:t> silks and </a:t>
            </a:r>
            <a:r>
              <a:rPr lang="en-US" sz="3500" i="1" dirty="0"/>
              <a:t>Tcb1-s</a:t>
            </a:r>
            <a:r>
              <a:rPr lang="en-US" sz="3500" dirty="0"/>
              <a:t> OR </a:t>
            </a:r>
            <a:r>
              <a:rPr lang="en-US" sz="3500" i="1" dirty="0"/>
              <a:t>Tcb1-m </a:t>
            </a:r>
            <a:r>
              <a:rPr lang="en-US" sz="3500" dirty="0"/>
              <a:t>pollen. </a:t>
            </a:r>
            <a:r>
              <a:rPr lang="en-US" sz="3500" b="1" dirty="0"/>
              <a:t>C: </a:t>
            </a:r>
            <a:r>
              <a:rPr lang="en-US" sz="3500" dirty="0"/>
              <a:t>Successful pollination between </a:t>
            </a:r>
            <a:r>
              <a:rPr lang="en-US" sz="3500" i="1" dirty="0"/>
              <a:t>Tcb1-m </a:t>
            </a:r>
            <a:r>
              <a:rPr lang="en-US" sz="3500" dirty="0"/>
              <a:t>or </a:t>
            </a:r>
            <a:r>
              <a:rPr lang="en-US" sz="3500" i="1" dirty="0"/>
              <a:t>tcb1</a:t>
            </a:r>
            <a:r>
              <a:rPr lang="en-US" sz="3500" dirty="0"/>
              <a:t> silks and </a:t>
            </a:r>
            <a:r>
              <a:rPr lang="en-US" sz="3500" i="1" dirty="0"/>
              <a:t>Tcb1-s</a:t>
            </a:r>
            <a:r>
              <a:rPr lang="en-US" sz="3500" dirty="0"/>
              <a:t>, </a:t>
            </a:r>
            <a:r>
              <a:rPr lang="en-US" sz="3500" i="1" dirty="0"/>
              <a:t>Tcb1-m</a:t>
            </a:r>
            <a:r>
              <a:rPr lang="en-US" sz="3500" dirty="0"/>
              <a:t>, OR </a:t>
            </a:r>
            <a:r>
              <a:rPr lang="en-US" sz="3500" i="1" dirty="0"/>
              <a:t>tcb1</a:t>
            </a:r>
            <a:r>
              <a:rPr lang="en-US" sz="3500" dirty="0"/>
              <a:t> pollen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493" y="29600505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12255" y="23340958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928429" y="15503308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42101" y="15595115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6971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647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Merritt</dc:creator>
  <cp:lastModifiedBy>Burch, Merritt</cp:lastModifiedBy>
  <cp:revision>16</cp:revision>
  <dcterms:created xsi:type="dcterms:W3CDTF">2017-02-03T22:16:27Z</dcterms:created>
  <dcterms:modified xsi:type="dcterms:W3CDTF">2017-05-30T15:31:21Z</dcterms:modified>
</cp:coreProperties>
</file>